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g"/>
  <Default Extension="mov" ContentType="application/movie"/>
  <Default Extension="pdf" ContentType="application/pdf"/>
  <Default Extension="png" ContentType="image/png"/>
  <Default Extension="rels" ContentType="application/vnd.openxmlformats-package.relationships+xml"/>
  <Default Extension="tif" ContentType="image/tif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ommentAuthors" Target="commentAuthors.xml"/><Relationship Id="rId21" Type="http://schemas.openxmlformats.org/officeDocument/2006/relationships/slide" Target="slides/slide14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viewProps" Target="viewProps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customXml" Target="../customXml/item2.xml"/><Relationship Id="rId1" Type="http://schemas.openxmlformats.org/officeDocument/2006/relationships/presProps" Target="presProps.xml"/><Relationship Id="rId6" Type="http://schemas.openxmlformats.org/officeDocument/2006/relationships/theme" Target="theme/theme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ustomXml" Target="../customXml/item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customXml" Target="../customXml/item3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Comparative Study: MongoDB vs. MySQL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Kaan Dura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Relational DBs handle structured data but struggle at large scale.</a:t>
            </a:r>
          </a:p>
          <a:p>
            <a:pPr/>
            <a:r>
              <a:t>NoSQL introduced to handle high-volume, unstructured data.</a:t>
            </a:r>
          </a:p>
          <a:p>
            <a:pPr/>
            <a:r>
              <a:t>Not Only SQL - a milder variant of the definition, compared to usual anti relational definition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trategies for storing data in Non-relational databas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Strategies for storing data in Non-relational databases </a:t>
            </a:r>
          </a:p>
        </p:txBody>
      </p:sp>
      <p:sp>
        <p:nvSpPr>
          <p:cNvPr id="101" name="Key-Value Databases: Work like distributed dictionaries. Schema-less, Ex: Ria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1465" indent="-291465" defTabSz="388620">
              <a:spcBef>
                <a:spcPts val="600"/>
              </a:spcBef>
              <a:defRPr b="1" sz="2720"/>
            </a:pPr>
            <a:r>
              <a:t>Key-Value Databases: </a:t>
            </a:r>
            <a:r>
              <a:rPr b="0"/>
              <a:t>Work like distributed dictionaries. Schema-less, Ex: Riak</a:t>
            </a:r>
            <a:endParaRPr b="0"/>
          </a:p>
          <a:p>
            <a:pPr marL="291465" indent="-291465" defTabSz="388620">
              <a:spcBef>
                <a:spcPts val="600"/>
              </a:spcBef>
              <a:defRPr b="1" sz="2720"/>
            </a:pPr>
            <a:r>
              <a:t>Document: </a:t>
            </a:r>
            <a:r>
              <a:rPr b="0"/>
              <a:t>Extension of key-value model where values are documents (JSON, BSON, XML).</a:t>
            </a:r>
            <a:r>
              <a:t> </a:t>
            </a:r>
            <a:r>
              <a:rPr b="0"/>
              <a:t>Schema-less, Ex: MongoDB</a:t>
            </a:r>
            <a:endParaRPr b="0"/>
          </a:p>
          <a:p>
            <a:pPr marL="291465" indent="-291465" defTabSz="388620">
              <a:spcBef>
                <a:spcPts val="600"/>
              </a:spcBef>
              <a:defRPr b="1" sz="2720"/>
            </a:pPr>
            <a:r>
              <a:t>Column-Oriented: </a:t>
            </a:r>
            <a:r>
              <a:rPr b="0"/>
              <a:t>Store data in columns grouped into column families rather than rows. Schemas, Ex: HyperTable</a:t>
            </a:r>
            <a:endParaRPr b="0"/>
          </a:p>
          <a:p>
            <a:pPr marL="291465" indent="-291465" defTabSz="388620">
              <a:spcBef>
                <a:spcPts val="600"/>
              </a:spcBef>
              <a:defRPr b="1" sz="2720"/>
            </a:pPr>
            <a:r>
              <a:t>Graph: </a:t>
            </a:r>
            <a:r>
              <a:rPr b="0"/>
              <a:t>Model data as nodes (entities) and edges (relationships), Schema-less. Ex: Neo4j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Relational vs Non‑Relational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MySQL uses tables, fixed schema, relations.</a:t>
            </a:r>
          </a:p>
          <a:p>
            <a:pPr/>
            <a:r>
              <a:t>MongoDB uses collections, documents, flexible schema.</a:t>
            </a:r>
          </a:p>
          <a:p>
            <a:pPr/>
            <a:r>
              <a:t>No schema migrations required in MongoDB.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MongoDB Data Model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Data stored as BSON documents.</a:t>
            </a:r>
          </a:p>
          <a:p>
            <a:pPr/>
            <a:r>
              <a:t>Supports embedded documents and dynamic structure.</a:t>
            </a:r>
          </a:p>
          <a:p>
            <a:pPr/>
            <a:r>
              <a:t>Suitable for hierarchical and flexible datasets.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MySQL vs MongoDB Terms</a:t>
            </a:r>
          </a:p>
        </p:txBody>
      </p:sp>
      <p:pic>
        <p:nvPicPr>
          <p:cNvPr id="110" name="Screenshot 2025-11-12 at 08.40.28.png" descr="Screenshot 2025-11-12 at 08.40.2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4211" y="1775498"/>
            <a:ext cx="7335578" cy="383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Data Repres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Representation</a:t>
            </a:r>
          </a:p>
        </p:txBody>
      </p:sp>
      <p:pic>
        <p:nvPicPr>
          <p:cNvPr id="113" name="Screenshot 2025-11-12 at 08.41.35.png" descr="Screenshot 2025-11-12 at 08.41.3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488" y="1310729"/>
            <a:ext cx="7676742" cy="42365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Case in the Study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 forum system where users create forums and subforums.</a:t>
            </a:r>
          </a:p>
          <a:p>
            <a:pPr/>
            <a:r>
              <a:t>MongoDB allowed dynamic, nested forum structures.</a:t>
            </a:r>
          </a:p>
          <a:p>
            <a:pPr/>
            <a:r>
              <a:t>MySQL required rigid predefined schema.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Performance Test Setup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Hardware: Intel i3, 4GB RAM, Windows 7.</a:t>
            </a:r>
          </a:p>
          <a:p>
            <a:pPr/>
            <a:r>
              <a:t>Operations tested: Insert, Select, Update, Delete.</a:t>
            </a:r>
          </a:p>
          <a:p>
            <a:pPr/>
            <a:r>
              <a:t>Same dataset and logic used for both DBs.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Insert Performance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94894" indent="-294894" defTabSz="393192">
              <a:spcBef>
                <a:spcPts val="600"/>
              </a:spcBef>
              <a:defRPr sz="2752"/>
            </a:pPr>
            <a:r>
              <a:t>The test started with the creation of databases without any content. The tables have the same number of columns/fields and tables/documents. </a:t>
            </a:r>
          </a:p>
          <a:p>
            <a:pPr marL="294894" indent="-294894" defTabSz="393192">
              <a:spcBef>
                <a:spcPts val="600"/>
              </a:spcBef>
              <a:defRPr sz="2752"/>
            </a:pPr>
            <a:r>
              <a:rPr b="1"/>
              <a:t>Users</a:t>
            </a:r>
            <a:r>
              <a:t>, id, username, password, email</a:t>
            </a:r>
          </a:p>
          <a:p>
            <a:pPr marL="294894" indent="-294894" defTabSz="393192">
              <a:spcBef>
                <a:spcPts val="600"/>
              </a:spcBef>
              <a:defRPr sz="2752"/>
            </a:pPr>
            <a:r>
              <a:rPr b="1"/>
              <a:t>Forums</a:t>
            </a:r>
            <a:r>
              <a:t>, id, title, author, info</a:t>
            </a:r>
          </a:p>
          <a:p>
            <a:pPr marL="294894" indent="-294894" defTabSz="393192">
              <a:spcBef>
                <a:spcPts val="600"/>
              </a:spcBef>
              <a:defRPr sz="2752"/>
            </a:pPr>
            <a:r>
              <a:rPr b="1"/>
              <a:t>Subforums</a:t>
            </a:r>
            <a:r>
              <a:t>: id, title, author, info, created, updated</a:t>
            </a:r>
          </a:p>
          <a:p>
            <a:pPr marL="294894" indent="-294894" defTabSz="393192">
              <a:spcBef>
                <a:spcPts val="600"/>
              </a:spcBef>
              <a:defRPr sz="2752"/>
            </a:pPr>
            <a:r>
              <a:rPr b="1"/>
              <a:t>Discussions</a:t>
            </a:r>
            <a:r>
              <a:t>: id, title, author, created, updated, content</a:t>
            </a:r>
          </a:p>
          <a:p>
            <a:pPr marL="294894" indent="-294894" defTabSz="393192">
              <a:spcBef>
                <a:spcPts val="600"/>
              </a:spcBef>
              <a:defRPr sz="2752"/>
            </a:pPr>
            <a:r>
              <a:rPr b="1"/>
              <a:t>Comments</a:t>
            </a:r>
            <a:r>
              <a:t>: id, author, created, content, approved</a:t>
            </a:r>
          </a:p>
          <a:p>
            <a:pPr marL="294894" indent="-294894" defTabSz="393192">
              <a:spcBef>
                <a:spcPts val="600"/>
              </a:spcBef>
              <a:defRPr sz="2752"/>
            </a:pPr>
            <a:r>
              <a:t>MySQL also requires columns for foreign keys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nsert Performance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Insert Performance - 2</a:t>
            </a:r>
          </a:p>
        </p:txBody>
      </p:sp>
      <p:sp>
        <p:nvSpPr>
          <p:cNvPr id="125" name="10000 users were inserted, the ids are generated automatically"/>
          <p:cNvSpPr txBox="1"/>
          <p:nvPr>
            <p:ph type="body" sz="quarter" idx="1"/>
          </p:nvPr>
        </p:nvSpPr>
        <p:spPr>
          <a:xfrm>
            <a:off x="457200" y="1600200"/>
            <a:ext cx="8229600" cy="632064"/>
          </a:xfrm>
          <a:prstGeom prst="rect">
            <a:avLst/>
          </a:prstGeom>
        </p:spPr>
        <p:txBody>
          <a:bodyPr/>
          <a:lstStyle>
            <a:lvl1pPr marL="257175" indent="-257175" defTabSz="342900">
              <a:spcBef>
                <a:spcPts val="500"/>
              </a:spcBef>
              <a:defRPr sz="2400"/>
            </a:lvl1pPr>
          </a:lstStyle>
          <a:p>
            <a:pPr/>
            <a:r>
              <a:t>10000 users were inserted, the ids are generated automatically</a:t>
            </a:r>
          </a:p>
        </p:txBody>
      </p:sp>
      <p:pic>
        <p:nvPicPr>
          <p:cNvPr id="126" name="Screenshot 2025-11-12 at 08.45.59.png" descr="Screenshot 2025-11-12 at 08.45.5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5211" y="2414825"/>
            <a:ext cx="5334001" cy="3708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Insert Performance -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Insert Performance - 3</a:t>
            </a:r>
          </a:p>
        </p:txBody>
      </p:sp>
      <p:sp>
        <p:nvSpPr>
          <p:cNvPr id="129" name="For the other tables 5000 documents were inserted for each of them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the other tables 5000 documents were inserted for each of them. </a:t>
            </a:r>
          </a:p>
          <a:p>
            <a:pPr/>
            <a:r>
              <a:t>MySQL took 1010 seconds, MongoDB took 3.3331 seconds</a:t>
            </a:r>
          </a:p>
          <a:p>
            <a:pPr/>
            <a:r>
              <a:rPr b="1"/>
              <a:t>Conclusion</a:t>
            </a:r>
            <a:r>
              <a:t>: MongoDB is more performant than MySQL, for insertion of large amount of information in the database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Query Performance</a:t>
            </a:r>
          </a:p>
        </p:txBody>
      </p:sp>
      <p:sp>
        <p:nvSpPr>
          <p:cNvPr id="13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To test the performance of query operations, two select queries were executed. </a:t>
            </a:r>
          </a:p>
          <a:p>
            <a:pPr/>
            <a:r>
              <a:t>Selection of all discussions a user attended and with a date different than a certain one</a:t>
            </a:r>
          </a:p>
          <a:p>
            <a:pPr/>
            <a:r>
              <a:t>Selection of all users from the database and the number of discussions started by each user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Query Performance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Query Performance - 2</a:t>
            </a:r>
          </a:p>
        </p:txBody>
      </p:sp>
      <p:pic>
        <p:nvPicPr>
          <p:cNvPr id="135" name="Screenshot 2025-11-12 at 08.49.38.png" descr="Screenshot 2025-11-12 at 08.49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4329" y="1198943"/>
            <a:ext cx="6475342" cy="5398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 Performance</a:t>
            </a:r>
          </a:p>
        </p:txBody>
      </p:sp>
      <p:sp>
        <p:nvSpPr>
          <p:cNvPr id="13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To test update operations two queries were executed</a:t>
            </a:r>
          </a:p>
          <a:p>
            <a:pPr/>
            <a:r>
              <a:t>Updating a comment written by a specific user</a:t>
            </a:r>
          </a:p>
          <a:p>
            <a:pPr/>
            <a:r>
              <a:t>Updating the email address of a user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Update Performance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 Performance - 2</a:t>
            </a:r>
          </a:p>
        </p:txBody>
      </p:sp>
      <p:pic>
        <p:nvPicPr>
          <p:cNvPr id="141" name="Screenshot 2025-11-12 at 08.51.07.png" descr="Screenshot 2025-11-12 at 08.51.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4199" y="1656021"/>
            <a:ext cx="5435601" cy="5041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Delete performa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Delete performance</a:t>
            </a:r>
          </a:p>
        </p:txBody>
      </p:sp>
      <p:sp>
        <p:nvSpPr>
          <p:cNvPr id="144" name="Two delete queries were executed for each databas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delete queries were executed for each database</a:t>
            </a:r>
          </a:p>
          <a:p>
            <a:pPr/>
            <a:r>
              <a:t>First query deleted all the comments posted by a user</a:t>
            </a:r>
          </a:p>
          <a:p>
            <a:pPr/>
            <a:r>
              <a:t>Second query deleted all the forums created by a specific user</a:t>
            </a:r>
          </a:p>
          <a:p>
            <a:pPr/>
            <a:r>
              <a:t>All of the associated data is also deleted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Delete Performance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Delete Performance - 2</a:t>
            </a:r>
          </a:p>
        </p:txBody>
      </p:sp>
      <p:pic>
        <p:nvPicPr>
          <p:cNvPr id="147" name="Screenshot 2025-11-12 at 08.57.53.png" descr="Screenshot 2025-11-12 at 08.57.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0049" y="1593430"/>
            <a:ext cx="5803901" cy="4800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Conclusions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81177" indent="-281177" defTabSz="374904">
              <a:spcBef>
                <a:spcPts val="600"/>
              </a:spcBef>
              <a:defRPr sz="2624"/>
            </a:pPr>
            <a:r>
              <a:t>In spite of the results obtained, the use of relational databases will continue, mainly because of the feature sets provided and their data integrity and scalability.</a:t>
            </a:r>
          </a:p>
          <a:p>
            <a:pPr marL="281177" indent="-281177" defTabSz="374904">
              <a:spcBef>
                <a:spcPts val="600"/>
              </a:spcBef>
              <a:defRPr sz="2624"/>
            </a:pPr>
            <a:r>
              <a:t>For this application MongoDB is the most suitable database.</a:t>
            </a:r>
          </a:p>
          <a:p>
            <a:pPr marL="281177" indent="-281177" defTabSz="374904">
              <a:spcBef>
                <a:spcPts val="600"/>
              </a:spcBef>
              <a:defRPr sz="2624"/>
            </a:pPr>
            <a:r>
              <a:t>Although MongoDB doesn’t allow join operations references can be used to overcome this issue.</a:t>
            </a:r>
          </a:p>
          <a:p>
            <a:pPr marL="281177" indent="-281177" defTabSz="374904">
              <a:spcBef>
                <a:spcPts val="600"/>
              </a:spcBef>
              <a:defRPr sz="2624"/>
            </a:pPr>
            <a:r>
              <a:t>MongoDB can be chosen if the application is data intensive.</a:t>
            </a:r>
          </a:p>
          <a:p>
            <a:pPr marL="281177" indent="-281177" defTabSz="374904">
              <a:spcBef>
                <a:spcPts val="600"/>
              </a:spcBef>
              <a:defRPr sz="2624"/>
            </a:pPr>
            <a:r>
              <a:t>MongoDB allows total customization.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Bonu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Bonus</a:t>
            </a:r>
          </a:p>
        </p:txBody>
      </p:sp>
      <p:sp>
        <p:nvSpPr>
          <p:cNvPr id="153" name="https://www.youtube.com/watch?v=b2F-DItXtZs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https://www.youtube.com/watch?v=b2F-DItXtZs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0" ma:contentTypeDescription="Yeni belge oluşturun." ma:contentTypeScope="" ma:versionID="97ea9f8dde11404a61cd908adc9bc85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8af54ce399383318fd6f7ebd7dd72a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F60CEC-3839-49C3-A21E-E54CC61FF7B6}"/>
</file>

<file path=customXml/itemProps2.xml><?xml version="1.0" encoding="utf-8"?>
<ds:datastoreItem xmlns:ds="http://schemas.openxmlformats.org/officeDocument/2006/customXml" ds:itemID="{08ACCE6A-D7D8-448B-AD3E-73DE6FA3F91F}"/>
</file>

<file path=customXml/itemProps3.xml><?xml version="1.0" encoding="utf-8"?>
<ds:datastoreItem xmlns:ds="http://schemas.openxmlformats.org/officeDocument/2006/customXml" ds:itemID="{8054377F-BD71-48E4-B3CF-BC4702691490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