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6858000" cy="9144000"/>
  <p:embeddedFontLst>
    <p:embeddedFont>
      <p:font typeface="Open Sans" panose="020B0606030504020204" pitchFamily="34" charset="0"/>
      <p:regular r:id="rId17"/>
    </p:embeddedFont>
    <p:embeddedFont>
      <p:font typeface="Open Sans Bold" panose="020B0604020202020204" charset="0"/>
      <p:regular r:id="rId18"/>
    </p:embeddedFont>
    <p:embeddedFont>
      <p:font typeface="Open Sauce" panose="020B0604020202020204" charset="0"/>
      <p:regular r:id="rId19"/>
    </p:embeddedFont>
    <p:embeddedFont>
      <p:font typeface="Open Sauce Bold" panose="020B060402020202020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1" d="100"/>
          <a:sy n="61" d="100"/>
        </p:scale>
        <p:origin x="322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customXml" Target="../customXml/item2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Relationship Id="rId27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2323804" y="7639981"/>
            <a:ext cx="13640392" cy="0"/>
          </a:xfrm>
          <a:prstGeom prst="line">
            <a:avLst/>
          </a:prstGeom>
          <a:ln w="19050" cap="flat">
            <a:solidFill>
              <a:srgbClr val="42424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 flipH="1" flipV="1">
            <a:off x="990600" y="-142991"/>
            <a:ext cx="0" cy="10572982"/>
          </a:xfrm>
          <a:prstGeom prst="line">
            <a:avLst/>
          </a:prstGeom>
          <a:ln w="76200" cap="flat">
            <a:gradFill>
              <a:gsLst>
                <a:gs pos="0">
                  <a:srgbClr val="424242">
                    <a:alpha val="100000"/>
                  </a:srgbClr>
                </a:gs>
                <a:gs pos="25000">
                  <a:srgbClr val="9B9B9B">
                    <a:alpha val="100000"/>
                  </a:srgbClr>
                </a:gs>
                <a:gs pos="50000">
                  <a:srgbClr val="424242">
                    <a:alpha val="100000"/>
                  </a:srgbClr>
                </a:gs>
                <a:gs pos="75000">
                  <a:srgbClr val="9B9B9B">
                    <a:alpha val="100000"/>
                  </a:srgbClr>
                </a:gs>
                <a:gs pos="100000">
                  <a:srgbClr val="424242">
                    <a:alpha val="100000"/>
                  </a:srgbClr>
                </a:gs>
              </a:gsLst>
              <a:lin ang="270000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588577" y="3353731"/>
            <a:ext cx="15670723" cy="2809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sz="6000" b="1" spc="-420">
                <a:solidFill>
                  <a:srgbClr val="42424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 State-of-the-Art Review in Big Data Management Engineering: Real-Life Case Studies, Challenges, and Future Research Directions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588577" y="8602938"/>
            <a:ext cx="3500786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 spc="-109">
                <a:solidFill>
                  <a:srgbClr val="42424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Presented by :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588577" y="8977588"/>
            <a:ext cx="3500786" cy="86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spc="-109">
                <a:solidFill>
                  <a:srgbClr val="424242"/>
                </a:solidFill>
                <a:latin typeface="Open Sans"/>
                <a:ea typeface="Open Sans"/>
                <a:cs typeface="Open Sans"/>
                <a:sym typeface="Open Sans"/>
              </a:rPr>
              <a:t>Beyza Naz Karadağ</a:t>
            </a:r>
          </a:p>
          <a:p>
            <a:pPr algn="l">
              <a:lnSpc>
                <a:spcPts val="3499"/>
              </a:lnSpc>
            </a:pPr>
            <a:r>
              <a:rPr lang="en-US" sz="2499" spc="-109">
                <a:solidFill>
                  <a:srgbClr val="424242"/>
                </a:solidFill>
                <a:latin typeface="Open Sans"/>
                <a:ea typeface="Open Sans"/>
                <a:cs typeface="Open Sans"/>
                <a:sym typeface="Open Sans"/>
              </a:rPr>
              <a:t>333078017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88577" y="6744631"/>
            <a:ext cx="15670723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3000" b="1" spc="-210">
                <a:solidFill>
                  <a:srgbClr val="42424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From Introduction to Part 2.6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068360" y="3871030"/>
            <a:ext cx="12669312" cy="0"/>
          </a:xfrm>
          <a:prstGeom prst="line">
            <a:avLst/>
          </a:prstGeom>
          <a:ln w="19050" cap="flat">
            <a:solidFill>
              <a:srgbClr val="42424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094970" y="2321145"/>
            <a:ext cx="16098059" cy="11283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03"/>
              </a:lnSpc>
            </a:pPr>
            <a:r>
              <a:rPr lang="en-US" sz="9114" b="1" spc="-638">
                <a:solidFill>
                  <a:srgbClr val="42424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Overview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736658" y="4370075"/>
            <a:ext cx="6322881" cy="5238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50"/>
              </a:lnSpc>
            </a:pPr>
            <a:r>
              <a:rPr lang="en-US" sz="3000" spc="-15">
                <a:solidFill>
                  <a:srgbClr val="424242"/>
                </a:solidFill>
                <a:latin typeface="Open Sans"/>
                <a:ea typeface="Open Sans"/>
                <a:cs typeface="Open Sans"/>
                <a:sym typeface="Open Sans"/>
              </a:rPr>
              <a:t>1. INTRODUCTION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741057" y="4351342"/>
            <a:ext cx="8007490" cy="1628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50"/>
              </a:lnSpc>
            </a:pPr>
            <a:r>
              <a:rPr lang="en-US" sz="3000" spc="-15">
                <a:solidFill>
                  <a:srgbClr val="424242"/>
                </a:solidFill>
                <a:latin typeface="Open Sans"/>
                <a:ea typeface="Open Sans"/>
                <a:cs typeface="Open Sans"/>
                <a:sym typeface="Open Sans"/>
              </a:rPr>
              <a:t>2.3. INTEGRATION AND VISUALIZATION</a:t>
            </a:r>
          </a:p>
          <a:p>
            <a:pPr algn="l">
              <a:lnSpc>
                <a:spcPts val="4350"/>
              </a:lnSpc>
            </a:pPr>
            <a:endParaRPr lang="en-US" sz="3000" spc="-15">
              <a:solidFill>
                <a:srgbClr val="42424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4350"/>
              </a:lnSpc>
            </a:pPr>
            <a:endParaRPr lang="en-US" sz="3000" spc="-15">
              <a:solidFill>
                <a:srgbClr val="42424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736658" y="5456558"/>
            <a:ext cx="7551314" cy="5238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50"/>
              </a:lnSpc>
            </a:pPr>
            <a:r>
              <a:rPr lang="en-US" sz="3000" spc="-15">
                <a:solidFill>
                  <a:srgbClr val="424242"/>
                </a:solidFill>
                <a:latin typeface="Open Sans"/>
                <a:ea typeface="Open Sans"/>
                <a:cs typeface="Open Sans"/>
                <a:sym typeface="Open Sans"/>
              </a:rPr>
              <a:t>2. BIG DATA MANAGEMENT ENGINEERING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741057" y="5437826"/>
            <a:ext cx="7325761" cy="1628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50"/>
              </a:lnSpc>
            </a:pPr>
            <a:r>
              <a:rPr lang="en-US" sz="3000" spc="-15">
                <a:solidFill>
                  <a:srgbClr val="424242"/>
                </a:solidFill>
                <a:latin typeface="Open Sans"/>
                <a:ea typeface="Open Sans"/>
                <a:cs typeface="Open Sans"/>
                <a:sym typeface="Open Sans"/>
              </a:rPr>
              <a:t>2.4. REAL-TIME DATA PROCESSING</a:t>
            </a:r>
          </a:p>
          <a:p>
            <a:pPr algn="l">
              <a:lnSpc>
                <a:spcPts val="4350"/>
              </a:lnSpc>
            </a:pPr>
            <a:endParaRPr lang="en-US" sz="3000" spc="-15">
              <a:solidFill>
                <a:srgbClr val="42424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4350"/>
              </a:lnSpc>
            </a:pPr>
            <a:endParaRPr lang="en-US" sz="3000" spc="-15">
              <a:solidFill>
                <a:srgbClr val="42424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815514" y="4318575"/>
            <a:ext cx="691085" cy="705484"/>
            <a:chOff x="0" y="0"/>
            <a:chExt cx="350268" cy="35756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50268" cy="357565"/>
            </a:xfrm>
            <a:custGeom>
              <a:avLst/>
              <a:gdLst/>
              <a:ahLst/>
              <a:cxnLst/>
              <a:rect l="l" t="t" r="r" b="b"/>
              <a:pathLst>
                <a:path w="350268" h="357565">
                  <a:moveTo>
                    <a:pt x="175134" y="0"/>
                  </a:moveTo>
                  <a:lnTo>
                    <a:pt x="175134" y="0"/>
                  </a:lnTo>
                  <a:cubicBezTo>
                    <a:pt x="221582" y="0"/>
                    <a:pt x="266128" y="18452"/>
                    <a:pt x="298972" y="51296"/>
                  </a:cubicBezTo>
                  <a:cubicBezTo>
                    <a:pt x="331816" y="84140"/>
                    <a:pt x="350268" y="128686"/>
                    <a:pt x="350268" y="175134"/>
                  </a:cubicBezTo>
                  <a:lnTo>
                    <a:pt x="350268" y="182431"/>
                  </a:lnTo>
                  <a:cubicBezTo>
                    <a:pt x="350268" y="228880"/>
                    <a:pt x="331816" y="273426"/>
                    <a:pt x="298972" y="306270"/>
                  </a:cubicBezTo>
                  <a:cubicBezTo>
                    <a:pt x="266128" y="339114"/>
                    <a:pt x="221582" y="357565"/>
                    <a:pt x="175134" y="357565"/>
                  </a:cubicBezTo>
                  <a:lnTo>
                    <a:pt x="175134" y="357565"/>
                  </a:lnTo>
                  <a:cubicBezTo>
                    <a:pt x="128686" y="357565"/>
                    <a:pt x="84140" y="339114"/>
                    <a:pt x="51296" y="306270"/>
                  </a:cubicBezTo>
                  <a:cubicBezTo>
                    <a:pt x="18452" y="273426"/>
                    <a:pt x="0" y="228880"/>
                    <a:pt x="0" y="182431"/>
                  </a:cubicBezTo>
                  <a:lnTo>
                    <a:pt x="0" y="175134"/>
                  </a:lnTo>
                  <a:cubicBezTo>
                    <a:pt x="0" y="128686"/>
                    <a:pt x="18452" y="84140"/>
                    <a:pt x="51296" y="51296"/>
                  </a:cubicBezTo>
                  <a:cubicBezTo>
                    <a:pt x="84140" y="18452"/>
                    <a:pt x="128686" y="0"/>
                    <a:pt x="17513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350268" cy="3956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821371" y="4318575"/>
            <a:ext cx="691085" cy="705484"/>
            <a:chOff x="0" y="0"/>
            <a:chExt cx="350268" cy="35756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50268" cy="357565"/>
            </a:xfrm>
            <a:custGeom>
              <a:avLst/>
              <a:gdLst/>
              <a:ahLst/>
              <a:cxnLst/>
              <a:rect l="l" t="t" r="r" b="b"/>
              <a:pathLst>
                <a:path w="350268" h="357565">
                  <a:moveTo>
                    <a:pt x="175134" y="0"/>
                  </a:moveTo>
                  <a:lnTo>
                    <a:pt x="175134" y="0"/>
                  </a:lnTo>
                  <a:cubicBezTo>
                    <a:pt x="221582" y="0"/>
                    <a:pt x="266128" y="18452"/>
                    <a:pt x="298972" y="51296"/>
                  </a:cubicBezTo>
                  <a:cubicBezTo>
                    <a:pt x="331816" y="84140"/>
                    <a:pt x="350268" y="128686"/>
                    <a:pt x="350268" y="175134"/>
                  </a:cubicBezTo>
                  <a:lnTo>
                    <a:pt x="350268" y="182431"/>
                  </a:lnTo>
                  <a:cubicBezTo>
                    <a:pt x="350268" y="228880"/>
                    <a:pt x="331816" y="273426"/>
                    <a:pt x="298972" y="306270"/>
                  </a:cubicBezTo>
                  <a:cubicBezTo>
                    <a:pt x="266128" y="339114"/>
                    <a:pt x="221582" y="357565"/>
                    <a:pt x="175134" y="357565"/>
                  </a:cubicBezTo>
                  <a:lnTo>
                    <a:pt x="175134" y="357565"/>
                  </a:lnTo>
                  <a:cubicBezTo>
                    <a:pt x="128686" y="357565"/>
                    <a:pt x="84140" y="339114"/>
                    <a:pt x="51296" y="306270"/>
                  </a:cubicBezTo>
                  <a:cubicBezTo>
                    <a:pt x="18452" y="273426"/>
                    <a:pt x="0" y="228880"/>
                    <a:pt x="0" y="182431"/>
                  </a:cubicBezTo>
                  <a:lnTo>
                    <a:pt x="0" y="175134"/>
                  </a:lnTo>
                  <a:cubicBezTo>
                    <a:pt x="0" y="128686"/>
                    <a:pt x="18452" y="84140"/>
                    <a:pt x="51296" y="51296"/>
                  </a:cubicBezTo>
                  <a:cubicBezTo>
                    <a:pt x="84140" y="18452"/>
                    <a:pt x="128686" y="0"/>
                    <a:pt x="17513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350268" cy="3956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815514" y="5405059"/>
            <a:ext cx="691085" cy="705484"/>
            <a:chOff x="0" y="0"/>
            <a:chExt cx="350268" cy="35756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50268" cy="357565"/>
            </a:xfrm>
            <a:custGeom>
              <a:avLst/>
              <a:gdLst/>
              <a:ahLst/>
              <a:cxnLst/>
              <a:rect l="l" t="t" r="r" b="b"/>
              <a:pathLst>
                <a:path w="350268" h="357565">
                  <a:moveTo>
                    <a:pt x="175134" y="0"/>
                  </a:moveTo>
                  <a:lnTo>
                    <a:pt x="175134" y="0"/>
                  </a:lnTo>
                  <a:cubicBezTo>
                    <a:pt x="221582" y="0"/>
                    <a:pt x="266128" y="18452"/>
                    <a:pt x="298972" y="51296"/>
                  </a:cubicBezTo>
                  <a:cubicBezTo>
                    <a:pt x="331816" y="84140"/>
                    <a:pt x="350268" y="128686"/>
                    <a:pt x="350268" y="175134"/>
                  </a:cubicBezTo>
                  <a:lnTo>
                    <a:pt x="350268" y="182431"/>
                  </a:lnTo>
                  <a:cubicBezTo>
                    <a:pt x="350268" y="228880"/>
                    <a:pt x="331816" y="273426"/>
                    <a:pt x="298972" y="306270"/>
                  </a:cubicBezTo>
                  <a:cubicBezTo>
                    <a:pt x="266128" y="339114"/>
                    <a:pt x="221582" y="357565"/>
                    <a:pt x="175134" y="357565"/>
                  </a:cubicBezTo>
                  <a:lnTo>
                    <a:pt x="175134" y="357565"/>
                  </a:lnTo>
                  <a:cubicBezTo>
                    <a:pt x="128686" y="357565"/>
                    <a:pt x="84140" y="339114"/>
                    <a:pt x="51296" y="306270"/>
                  </a:cubicBezTo>
                  <a:cubicBezTo>
                    <a:pt x="18452" y="273426"/>
                    <a:pt x="0" y="228880"/>
                    <a:pt x="0" y="182431"/>
                  </a:cubicBezTo>
                  <a:lnTo>
                    <a:pt x="0" y="175134"/>
                  </a:lnTo>
                  <a:cubicBezTo>
                    <a:pt x="0" y="128686"/>
                    <a:pt x="18452" y="84140"/>
                    <a:pt x="51296" y="51296"/>
                  </a:cubicBezTo>
                  <a:cubicBezTo>
                    <a:pt x="84140" y="18452"/>
                    <a:pt x="128686" y="0"/>
                    <a:pt x="17513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350268" cy="3956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821371" y="5405059"/>
            <a:ext cx="691085" cy="705484"/>
            <a:chOff x="0" y="0"/>
            <a:chExt cx="350268" cy="35756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50268" cy="357565"/>
            </a:xfrm>
            <a:custGeom>
              <a:avLst/>
              <a:gdLst/>
              <a:ahLst/>
              <a:cxnLst/>
              <a:rect l="l" t="t" r="r" b="b"/>
              <a:pathLst>
                <a:path w="350268" h="357565">
                  <a:moveTo>
                    <a:pt x="175134" y="0"/>
                  </a:moveTo>
                  <a:lnTo>
                    <a:pt x="175134" y="0"/>
                  </a:lnTo>
                  <a:cubicBezTo>
                    <a:pt x="221582" y="0"/>
                    <a:pt x="266128" y="18452"/>
                    <a:pt x="298972" y="51296"/>
                  </a:cubicBezTo>
                  <a:cubicBezTo>
                    <a:pt x="331816" y="84140"/>
                    <a:pt x="350268" y="128686"/>
                    <a:pt x="350268" y="175134"/>
                  </a:cubicBezTo>
                  <a:lnTo>
                    <a:pt x="350268" y="182431"/>
                  </a:lnTo>
                  <a:cubicBezTo>
                    <a:pt x="350268" y="228880"/>
                    <a:pt x="331816" y="273426"/>
                    <a:pt x="298972" y="306270"/>
                  </a:cubicBezTo>
                  <a:cubicBezTo>
                    <a:pt x="266128" y="339114"/>
                    <a:pt x="221582" y="357565"/>
                    <a:pt x="175134" y="357565"/>
                  </a:cubicBezTo>
                  <a:lnTo>
                    <a:pt x="175134" y="357565"/>
                  </a:lnTo>
                  <a:cubicBezTo>
                    <a:pt x="128686" y="357565"/>
                    <a:pt x="84140" y="339114"/>
                    <a:pt x="51296" y="306270"/>
                  </a:cubicBezTo>
                  <a:cubicBezTo>
                    <a:pt x="18452" y="273426"/>
                    <a:pt x="0" y="228880"/>
                    <a:pt x="0" y="182431"/>
                  </a:cubicBezTo>
                  <a:lnTo>
                    <a:pt x="0" y="175134"/>
                  </a:lnTo>
                  <a:cubicBezTo>
                    <a:pt x="0" y="128686"/>
                    <a:pt x="18452" y="84140"/>
                    <a:pt x="51296" y="51296"/>
                  </a:cubicBezTo>
                  <a:cubicBezTo>
                    <a:pt x="84140" y="18452"/>
                    <a:pt x="128686" y="0"/>
                    <a:pt x="17513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350268" cy="3956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834477" y="4360550"/>
            <a:ext cx="634110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50"/>
              </a:lnSpc>
            </a:pPr>
            <a:r>
              <a:rPr lang="en-US" sz="3000" spc="-15">
                <a:solidFill>
                  <a:srgbClr val="424242"/>
                </a:solidFill>
                <a:latin typeface="Open Sans"/>
                <a:ea typeface="Open Sans"/>
                <a:cs typeface="Open Sans"/>
                <a:sym typeface="Open Sans"/>
              </a:rPr>
              <a:t>01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840334" y="4360550"/>
            <a:ext cx="634110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50"/>
              </a:lnSpc>
            </a:pPr>
            <a:r>
              <a:rPr lang="en-US" sz="3000" spc="-15">
                <a:solidFill>
                  <a:srgbClr val="424242"/>
                </a:solidFill>
                <a:latin typeface="Open Sans"/>
                <a:ea typeface="Open Sans"/>
                <a:cs typeface="Open Sans"/>
                <a:sym typeface="Open Sans"/>
              </a:rPr>
              <a:t>05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34477" y="5447033"/>
            <a:ext cx="634110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50"/>
              </a:lnSpc>
            </a:pPr>
            <a:r>
              <a:rPr lang="en-US" sz="3000" spc="-15">
                <a:solidFill>
                  <a:srgbClr val="424242"/>
                </a:solidFill>
                <a:latin typeface="Open Sans"/>
                <a:ea typeface="Open Sans"/>
                <a:cs typeface="Open Sans"/>
                <a:sym typeface="Open Sans"/>
              </a:rPr>
              <a:t>02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840334" y="5447033"/>
            <a:ext cx="634110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50"/>
              </a:lnSpc>
            </a:pPr>
            <a:r>
              <a:rPr lang="en-US" sz="3000" spc="-15">
                <a:solidFill>
                  <a:srgbClr val="424242"/>
                </a:solidFill>
                <a:latin typeface="Open Sans"/>
                <a:ea typeface="Open Sans"/>
                <a:cs typeface="Open Sans"/>
                <a:sym typeface="Open Sans"/>
              </a:rPr>
              <a:t>06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736658" y="6543042"/>
            <a:ext cx="7551314" cy="1628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50"/>
              </a:lnSpc>
            </a:pPr>
            <a:r>
              <a:rPr lang="en-US" sz="3000" spc="-15">
                <a:solidFill>
                  <a:srgbClr val="424242"/>
                </a:solidFill>
                <a:latin typeface="Open Sans"/>
                <a:ea typeface="Open Sans"/>
                <a:cs typeface="Open Sans"/>
                <a:sym typeface="Open Sans"/>
              </a:rPr>
              <a:t>2.1. COLLECTION AND STORAGE</a:t>
            </a:r>
          </a:p>
          <a:p>
            <a:pPr algn="l">
              <a:lnSpc>
                <a:spcPts val="4350"/>
              </a:lnSpc>
            </a:pPr>
            <a:endParaRPr lang="en-US" sz="3000" spc="-15">
              <a:solidFill>
                <a:srgbClr val="42424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4350"/>
              </a:lnSpc>
            </a:pPr>
            <a:endParaRPr lang="en-US" sz="3000" spc="-15">
              <a:solidFill>
                <a:srgbClr val="42424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0741057" y="6524309"/>
            <a:ext cx="7548381" cy="1628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50"/>
              </a:lnSpc>
            </a:pPr>
            <a:r>
              <a:rPr lang="en-US" sz="3000" spc="-15">
                <a:solidFill>
                  <a:srgbClr val="424242"/>
                </a:solidFill>
                <a:latin typeface="Open Sans"/>
                <a:ea typeface="Open Sans"/>
                <a:cs typeface="Open Sans"/>
                <a:sym typeface="Open Sans"/>
              </a:rPr>
              <a:t>2.5. QUALITY AND PREPROCESSING</a:t>
            </a:r>
          </a:p>
          <a:p>
            <a:pPr algn="l">
              <a:lnSpc>
                <a:spcPts val="4350"/>
              </a:lnSpc>
            </a:pPr>
            <a:endParaRPr lang="en-US" sz="3000" spc="-15">
              <a:solidFill>
                <a:srgbClr val="42424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4350"/>
              </a:lnSpc>
            </a:pPr>
            <a:endParaRPr lang="en-US" sz="3000" spc="-15">
              <a:solidFill>
                <a:srgbClr val="42424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26" name="Group 26"/>
          <p:cNvGrpSpPr/>
          <p:nvPr/>
        </p:nvGrpSpPr>
        <p:grpSpPr>
          <a:xfrm>
            <a:off x="815514" y="6491543"/>
            <a:ext cx="691085" cy="705484"/>
            <a:chOff x="0" y="0"/>
            <a:chExt cx="350268" cy="357565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350268" cy="357565"/>
            </a:xfrm>
            <a:custGeom>
              <a:avLst/>
              <a:gdLst/>
              <a:ahLst/>
              <a:cxnLst/>
              <a:rect l="l" t="t" r="r" b="b"/>
              <a:pathLst>
                <a:path w="350268" h="357565">
                  <a:moveTo>
                    <a:pt x="175134" y="0"/>
                  </a:moveTo>
                  <a:lnTo>
                    <a:pt x="175134" y="0"/>
                  </a:lnTo>
                  <a:cubicBezTo>
                    <a:pt x="221582" y="0"/>
                    <a:pt x="266128" y="18452"/>
                    <a:pt x="298972" y="51296"/>
                  </a:cubicBezTo>
                  <a:cubicBezTo>
                    <a:pt x="331816" y="84140"/>
                    <a:pt x="350268" y="128686"/>
                    <a:pt x="350268" y="175134"/>
                  </a:cubicBezTo>
                  <a:lnTo>
                    <a:pt x="350268" y="182431"/>
                  </a:lnTo>
                  <a:cubicBezTo>
                    <a:pt x="350268" y="228880"/>
                    <a:pt x="331816" y="273426"/>
                    <a:pt x="298972" y="306270"/>
                  </a:cubicBezTo>
                  <a:cubicBezTo>
                    <a:pt x="266128" y="339114"/>
                    <a:pt x="221582" y="357565"/>
                    <a:pt x="175134" y="357565"/>
                  </a:cubicBezTo>
                  <a:lnTo>
                    <a:pt x="175134" y="357565"/>
                  </a:lnTo>
                  <a:cubicBezTo>
                    <a:pt x="128686" y="357565"/>
                    <a:pt x="84140" y="339114"/>
                    <a:pt x="51296" y="306270"/>
                  </a:cubicBezTo>
                  <a:cubicBezTo>
                    <a:pt x="18452" y="273426"/>
                    <a:pt x="0" y="228880"/>
                    <a:pt x="0" y="182431"/>
                  </a:cubicBezTo>
                  <a:lnTo>
                    <a:pt x="0" y="175134"/>
                  </a:lnTo>
                  <a:cubicBezTo>
                    <a:pt x="0" y="128686"/>
                    <a:pt x="18452" y="84140"/>
                    <a:pt x="51296" y="51296"/>
                  </a:cubicBezTo>
                  <a:cubicBezTo>
                    <a:pt x="84140" y="18452"/>
                    <a:pt x="128686" y="0"/>
                    <a:pt x="17513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350268" cy="3956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821371" y="6491543"/>
            <a:ext cx="691085" cy="705484"/>
            <a:chOff x="0" y="0"/>
            <a:chExt cx="350268" cy="357565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350268" cy="357565"/>
            </a:xfrm>
            <a:custGeom>
              <a:avLst/>
              <a:gdLst/>
              <a:ahLst/>
              <a:cxnLst/>
              <a:rect l="l" t="t" r="r" b="b"/>
              <a:pathLst>
                <a:path w="350268" h="357565">
                  <a:moveTo>
                    <a:pt x="175134" y="0"/>
                  </a:moveTo>
                  <a:lnTo>
                    <a:pt x="175134" y="0"/>
                  </a:lnTo>
                  <a:cubicBezTo>
                    <a:pt x="221582" y="0"/>
                    <a:pt x="266128" y="18452"/>
                    <a:pt x="298972" y="51296"/>
                  </a:cubicBezTo>
                  <a:cubicBezTo>
                    <a:pt x="331816" y="84140"/>
                    <a:pt x="350268" y="128686"/>
                    <a:pt x="350268" y="175134"/>
                  </a:cubicBezTo>
                  <a:lnTo>
                    <a:pt x="350268" y="182431"/>
                  </a:lnTo>
                  <a:cubicBezTo>
                    <a:pt x="350268" y="228880"/>
                    <a:pt x="331816" y="273426"/>
                    <a:pt x="298972" y="306270"/>
                  </a:cubicBezTo>
                  <a:cubicBezTo>
                    <a:pt x="266128" y="339114"/>
                    <a:pt x="221582" y="357565"/>
                    <a:pt x="175134" y="357565"/>
                  </a:cubicBezTo>
                  <a:lnTo>
                    <a:pt x="175134" y="357565"/>
                  </a:lnTo>
                  <a:cubicBezTo>
                    <a:pt x="128686" y="357565"/>
                    <a:pt x="84140" y="339114"/>
                    <a:pt x="51296" y="306270"/>
                  </a:cubicBezTo>
                  <a:cubicBezTo>
                    <a:pt x="18452" y="273426"/>
                    <a:pt x="0" y="228880"/>
                    <a:pt x="0" y="182431"/>
                  </a:cubicBezTo>
                  <a:lnTo>
                    <a:pt x="0" y="175134"/>
                  </a:lnTo>
                  <a:cubicBezTo>
                    <a:pt x="0" y="128686"/>
                    <a:pt x="18452" y="84140"/>
                    <a:pt x="51296" y="51296"/>
                  </a:cubicBezTo>
                  <a:cubicBezTo>
                    <a:pt x="84140" y="18452"/>
                    <a:pt x="128686" y="0"/>
                    <a:pt x="17513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350268" cy="3956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834477" y="6533517"/>
            <a:ext cx="634110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50"/>
              </a:lnSpc>
            </a:pPr>
            <a:r>
              <a:rPr lang="en-US" sz="3000" spc="-15">
                <a:solidFill>
                  <a:srgbClr val="424242"/>
                </a:solidFill>
                <a:latin typeface="Open Sans"/>
                <a:ea typeface="Open Sans"/>
                <a:cs typeface="Open Sans"/>
                <a:sym typeface="Open Sans"/>
              </a:rPr>
              <a:t>03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840334" y="6533517"/>
            <a:ext cx="634110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50"/>
              </a:lnSpc>
            </a:pPr>
            <a:r>
              <a:rPr lang="en-US" sz="3000" spc="-15">
                <a:solidFill>
                  <a:srgbClr val="424242"/>
                </a:solidFill>
                <a:latin typeface="Open Sans"/>
                <a:ea typeface="Open Sans"/>
                <a:cs typeface="Open Sans"/>
                <a:sym typeface="Open Sans"/>
              </a:rPr>
              <a:t>07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736658" y="7629526"/>
            <a:ext cx="7551314" cy="1628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50"/>
              </a:lnSpc>
            </a:pPr>
            <a:r>
              <a:rPr lang="en-US" sz="3000" spc="-15">
                <a:solidFill>
                  <a:srgbClr val="424242"/>
                </a:solidFill>
                <a:latin typeface="Open Sans"/>
                <a:ea typeface="Open Sans"/>
                <a:cs typeface="Open Sans"/>
                <a:sym typeface="Open Sans"/>
              </a:rPr>
              <a:t>2.2. PROCESSING AND ANALYSIS</a:t>
            </a:r>
          </a:p>
          <a:p>
            <a:pPr algn="l">
              <a:lnSpc>
                <a:spcPts val="4350"/>
              </a:lnSpc>
            </a:pPr>
            <a:endParaRPr lang="en-US" sz="3000" spc="-15">
              <a:solidFill>
                <a:srgbClr val="42424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4350"/>
              </a:lnSpc>
            </a:pPr>
            <a:endParaRPr lang="en-US" sz="3000" spc="-15">
              <a:solidFill>
                <a:srgbClr val="42424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10741057" y="7610793"/>
            <a:ext cx="7325761" cy="1628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50"/>
              </a:lnSpc>
            </a:pPr>
            <a:r>
              <a:rPr lang="en-US" sz="3000" spc="-15">
                <a:solidFill>
                  <a:srgbClr val="424242"/>
                </a:solidFill>
                <a:latin typeface="Open Sans"/>
                <a:ea typeface="Open Sans"/>
                <a:cs typeface="Open Sans"/>
                <a:sym typeface="Open Sans"/>
              </a:rPr>
              <a:t>2.6. DATA LIFECYCLE MANAGEMENT</a:t>
            </a:r>
          </a:p>
          <a:p>
            <a:pPr algn="l">
              <a:lnSpc>
                <a:spcPts val="4350"/>
              </a:lnSpc>
            </a:pPr>
            <a:endParaRPr lang="en-US" sz="3000" spc="-15">
              <a:solidFill>
                <a:srgbClr val="42424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4350"/>
              </a:lnSpc>
            </a:pPr>
            <a:endParaRPr lang="en-US" sz="3000" spc="-15">
              <a:solidFill>
                <a:srgbClr val="42424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36" name="Group 36"/>
          <p:cNvGrpSpPr/>
          <p:nvPr/>
        </p:nvGrpSpPr>
        <p:grpSpPr>
          <a:xfrm>
            <a:off x="815514" y="7578026"/>
            <a:ext cx="691085" cy="705484"/>
            <a:chOff x="0" y="0"/>
            <a:chExt cx="350268" cy="357565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350268" cy="357565"/>
            </a:xfrm>
            <a:custGeom>
              <a:avLst/>
              <a:gdLst/>
              <a:ahLst/>
              <a:cxnLst/>
              <a:rect l="l" t="t" r="r" b="b"/>
              <a:pathLst>
                <a:path w="350268" h="357565">
                  <a:moveTo>
                    <a:pt x="175134" y="0"/>
                  </a:moveTo>
                  <a:lnTo>
                    <a:pt x="175134" y="0"/>
                  </a:lnTo>
                  <a:cubicBezTo>
                    <a:pt x="221582" y="0"/>
                    <a:pt x="266128" y="18452"/>
                    <a:pt x="298972" y="51296"/>
                  </a:cubicBezTo>
                  <a:cubicBezTo>
                    <a:pt x="331816" y="84140"/>
                    <a:pt x="350268" y="128686"/>
                    <a:pt x="350268" y="175134"/>
                  </a:cubicBezTo>
                  <a:lnTo>
                    <a:pt x="350268" y="182431"/>
                  </a:lnTo>
                  <a:cubicBezTo>
                    <a:pt x="350268" y="228880"/>
                    <a:pt x="331816" y="273426"/>
                    <a:pt x="298972" y="306270"/>
                  </a:cubicBezTo>
                  <a:cubicBezTo>
                    <a:pt x="266128" y="339114"/>
                    <a:pt x="221582" y="357565"/>
                    <a:pt x="175134" y="357565"/>
                  </a:cubicBezTo>
                  <a:lnTo>
                    <a:pt x="175134" y="357565"/>
                  </a:lnTo>
                  <a:cubicBezTo>
                    <a:pt x="128686" y="357565"/>
                    <a:pt x="84140" y="339114"/>
                    <a:pt x="51296" y="306270"/>
                  </a:cubicBezTo>
                  <a:cubicBezTo>
                    <a:pt x="18452" y="273426"/>
                    <a:pt x="0" y="228880"/>
                    <a:pt x="0" y="182431"/>
                  </a:cubicBezTo>
                  <a:lnTo>
                    <a:pt x="0" y="175134"/>
                  </a:lnTo>
                  <a:cubicBezTo>
                    <a:pt x="0" y="128686"/>
                    <a:pt x="18452" y="84140"/>
                    <a:pt x="51296" y="51296"/>
                  </a:cubicBezTo>
                  <a:cubicBezTo>
                    <a:pt x="84140" y="18452"/>
                    <a:pt x="128686" y="0"/>
                    <a:pt x="17513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38100"/>
              <a:ext cx="350268" cy="3956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821371" y="7578026"/>
            <a:ext cx="691085" cy="705484"/>
            <a:chOff x="0" y="0"/>
            <a:chExt cx="350268" cy="357565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350268" cy="357565"/>
            </a:xfrm>
            <a:custGeom>
              <a:avLst/>
              <a:gdLst/>
              <a:ahLst/>
              <a:cxnLst/>
              <a:rect l="l" t="t" r="r" b="b"/>
              <a:pathLst>
                <a:path w="350268" h="357565">
                  <a:moveTo>
                    <a:pt x="175134" y="0"/>
                  </a:moveTo>
                  <a:lnTo>
                    <a:pt x="175134" y="0"/>
                  </a:lnTo>
                  <a:cubicBezTo>
                    <a:pt x="221582" y="0"/>
                    <a:pt x="266128" y="18452"/>
                    <a:pt x="298972" y="51296"/>
                  </a:cubicBezTo>
                  <a:cubicBezTo>
                    <a:pt x="331816" y="84140"/>
                    <a:pt x="350268" y="128686"/>
                    <a:pt x="350268" y="175134"/>
                  </a:cubicBezTo>
                  <a:lnTo>
                    <a:pt x="350268" y="182431"/>
                  </a:lnTo>
                  <a:cubicBezTo>
                    <a:pt x="350268" y="228880"/>
                    <a:pt x="331816" y="273426"/>
                    <a:pt x="298972" y="306270"/>
                  </a:cubicBezTo>
                  <a:cubicBezTo>
                    <a:pt x="266128" y="339114"/>
                    <a:pt x="221582" y="357565"/>
                    <a:pt x="175134" y="357565"/>
                  </a:cubicBezTo>
                  <a:lnTo>
                    <a:pt x="175134" y="357565"/>
                  </a:lnTo>
                  <a:cubicBezTo>
                    <a:pt x="128686" y="357565"/>
                    <a:pt x="84140" y="339114"/>
                    <a:pt x="51296" y="306270"/>
                  </a:cubicBezTo>
                  <a:cubicBezTo>
                    <a:pt x="18452" y="273426"/>
                    <a:pt x="0" y="228880"/>
                    <a:pt x="0" y="182431"/>
                  </a:cubicBezTo>
                  <a:lnTo>
                    <a:pt x="0" y="175134"/>
                  </a:lnTo>
                  <a:cubicBezTo>
                    <a:pt x="0" y="128686"/>
                    <a:pt x="18452" y="84140"/>
                    <a:pt x="51296" y="51296"/>
                  </a:cubicBezTo>
                  <a:cubicBezTo>
                    <a:pt x="84140" y="18452"/>
                    <a:pt x="128686" y="0"/>
                    <a:pt x="17513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-38100"/>
              <a:ext cx="350268" cy="3956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2" name="TextBox 42"/>
          <p:cNvSpPr txBox="1"/>
          <p:nvPr/>
        </p:nvSpPr>
        <p:spPr>
          <a:xfrm>
            <a:off x="834477" y="7620001"/>
            <a:ext cx="634110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50"/>
              </a:lnSpc>
            </a:pPr>
            <a:r>
              <a:rPr lang="en-US" sz="3000" spc="-15">
                <a:solidFill>
                  <a:srgbClr val="424242"/>
                </a:solidFill>
                <a:latin typeface="Open Sans"/>
                <a:ea typeface="Open Sans"/>
                <a:cs typeface="Open Sans"/>
                <a:sym typeface="Open Sans"/>
              </a:rPr>
              <a:t>04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9840334" y="7620001"/>
            <a:ext cx="634110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50"/>
              </a:lnSpc>
            </a:pPr>
            <a:r>
              <a:rPr lang="en-US" sz="3000" spc="-15">
                <a:solidFill>
                  <a:srgbClr val="424242"/>
                </a:solidFill>
                <a:latin typeface="Open Sans"/>
                <a:ea typeface="Open Sans"/>
                <a:cs typeface="Open Sans"/>
                <a:sym typeface="Open Sans"/>
              </a:rPr>
              <a:t>08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H="1" flipV="1">
            <a:off x="990600" y="-142991"/>
            <a:ext cx="0" cy="10572982"/>
          </a:xfrm>
          <a:prstGeom prst="line">
            <a:avLst/>
          </a:prstGeom>
          <a:ln w="76200" cap="flat">
            <a:gradFill>
              <a:gsLst>
                <a:gs pos="0">
                  <a:srgbClr val="424242">
                    <a:alpha val="100000"/>
                  </a:srgbClr>
                </a:gs>
                <a:gs pos="25000">
                  <a:srgbClr val="9B9B9B">
                    <a:alpha val="100000"/>
                  </a:srgbClr>
                </a:gs>
                <a:gs pos="50000">
                  <a:srgbClr val="424242">
                    <a:alpha val="100000"/>
                  </a:srgbClr>
                </a:gs>
                <a:gs pos="75000">
                  <a:srgbClr val="9B9B9B">
                    <a:alpha val="100000"/>
                  </a:srgbClr>
                </a:gs>
                <a:gs pos="100000">
                  <a:srgbClr val="424242">
                    <a:alpha val="100000"/>
                  </a:srgbClr>
                </a:gs>
              </a:gsLst>
              <a:lin ang="270000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1466692" y="2835759"/>
            <a:ext cx="12669312" cy="0"/>
          </a:xfrm>
          <a:prstGeom prst="line">
            <a:avLst/>
          </a:prstGeom>
          <a:ln w="19050" cap="flat">
            <a:solidFill>
              <a:srgbClr val="42424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466692" y="1276350"/>
            <a:ext cx="14649345" cy="1123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00"/>
              </a:lnSpc>
            </a:pPr>
            <a:r>
              <a:rPr lang="en-US" sz="9000" b="1" spc="-630">
                <a:solidFill>
                  <a:srgbClr val="42424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1. Introduction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466692" y="3359634"/>
            <a:ext cx="14649345" cy="1343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3500" b="1" spc="-245">
                <a:solidFill>
                  <a:srgbClr val="42424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What is Big Data?</a:t>
            </a:r>
          </a:p>
          <a:p>
            <a:pPr algn="l">
              <a:lnSpc>
                <a:spcPts val="900"/>
              </a:lnSpc>
            </a:pPr>
            <a:endParaRPr lang="en-US" sz="3500" b="1" spc="-245">
              <a:solidFill>
                <a:srgbClr val="424242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algn="l">
              <a:lnSpc>
                <a:spcPts val="3150"/>
              </a:lnSpc>
            </a:pPr>
            <a:r>
              <a:rPr lang="en-US" sz="3500" spc="-245">
                <a:solidFill>
                  <a:srgbClr val="424242"/>
                </a:solidFill>
                <a:latin typeface="Open Sauce"/>
                <a:ea typeface="Open Sauce"/>
                <a:cs typeface="Open Sauce"/>
                <a:sym typeface="Open Sauce"/>
              </a:rPr>
              <a:t>Big data refers to datasets so large or complex that traditional data processing tools cannot handle them effectively.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66692" y="5217009"/>
            <a:ext cx="14649345" cy="1343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3500" b="1" spc="-245">
                <a:solidFill>
                  <a:srgbClr val="42424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The Opportunity and Challenge:</a:t>
            </a:r>
          </a:p>
          <a:p>
            <a:pPr algn="l">
              <a:lnSpc>
                <a:spcPts val="900"/>
              </a:lnSpc>
            </a:pPr>
            <a:endParaRPr lang="en-US" sz="3500" b="1" spc="-245">
              <a:solidFill>
                <a:srgbClr val="424242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algn="l">
              <a:lnSpc>
                <a:spcPts val="3150"/>
              </a:lnSpc>
            </a:pPr>
            <a:r>
              <a:rPr lang="en-US" sz="3500" spc="-245">
                <a:solidFill>
                  <a:srgbClr val="424242"/>
                </a:solidFill>
                <a:latin typeface="Open Sauce"/>
                <a:ea typeface="Open Sauce"/>
                <a:cs typeface="Open Sauce"/>
                <a:sym typeface="Open Sauce"/>
              </a:rPr>
              <a:t>While this data offers valuable insights, it creates challenges in managing, processing, and analyzing such vast and varied datasets.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66692" y="7074385"/>
            <a:ext cx="14649345" cy="1743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3500" b="1" spc="-245">
                <a:solidFill>
                  <a:srgbClr val="42424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What is Big Data Information Engineering?</a:t>
            </a:r>
          </a:p>
          <a:p>
            <a:pPr algn="l">
              <a:lnSpc>
                <a:spcPts val="900"/>
              </a:lnSpc>
            </a:pPr>
            <a:endParaRPr lang="en-US" sz="3500" b="1" spc="-245">
              <a:solidFill>
                <a:srgbClr val="424242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algn="l">
              <a:lnSpc>
                <a:spcPts val="3150"/>
              </a:lnSpc>
            </a:pPr>
            <a:r>
              <a:rPr lang="en-US" sz="3500" spc="-245">
                <a:solidFill>
                  <a:srgbClr val="424242"/>
                </a:solidFill>
                <a:latin typeface="Open Sauce"/>
                <a:ea typeface="Open Sauce"/>
                <a:cs typeface="Open Sauce"/>
                <a:sym typeface="Open Sauce"/>
              </a:rPr>
              <a:t>This is a discipline that combines art and science to unlock data's transformative power. It helps organizations extract actionable insights and optimize operations.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H="1" flipV="1">
            <a:off x="990600" y="-142991"/>
            <a:ext cx="0" cy="10572982"/>
          </a:xfrm>
          <a:prstGeom prst="line">
            <a:avLst/>
          </a:prstGeom>
          <a:ln w="76200" cap="flat">
            <a:gradFill>
              <a:gsLst>
                <a:gs pos="0">
                  <a:srgbClr val="424242">
                    <a:alpha val="100000"/>
                  </a:srgbClr>
                </a:gs>
                <a:gs pos="25000">
                  <a:srgbClr val="9B9B9B">
                    <a:alpha val="100000"/>
                  </a:srgbClr>
                </a:gs>
                <a:gs pos="50000">
                  <a:srgbClr val="424242">
                    <a:alpha val="100000"/>
                  </a:srgbClr>
                </a:gs>
                <a:gs pos="75000">
                  <a:srgbClr val="9B9B9B">
                    <a:alpha val="100000"/>
                  </a:srgbClr>
                </a:gs>
                <a:gs pos="100000">
                  <a:srgbClr val="424242">
                    <a:alpha val="100000"/>
                  </a:srgbClr>
                </a:gs>
              </a:gsLst>
              <a:lin ang="270000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1466692" y="3960945"/>
            <a:ext cx="12669312" cy="0"/>
          </a:xfrm>
          <a:prstGeom prst="line">
            <a:avLst/>
          </a:prstGeom>
          <a:ln w="19050" cap="flat">
            <a:solidFill>
              <a:srgbClr val="42424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466692" y="1276350"/>
            <a:ext cx="16158265" cy="2152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00"/>
              </a:lnSpc>
            </a:pPr>
            <a:r>
              <a:rPr lang="en-US" sz="9000" b="1" spc="-630">
                <a:solidFill>
                  <a:srgbClr val="42424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2. Big Data Management Engineering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466692" y="4533900"/>
            <a:ext cx="14649345" cy="4476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3999" b="1" spc="-279">
                <a:solidFill>
                  <a:srgbClr val="42424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What is Big Data? The 5V Framework</a:t>
            </a:r>
          </a:p>
          <a:p>
            <a:pPr algn="l">
              <a:lnSpc>
                <a:spcPts val="3150"/>
              </a:lnSpc>
            </a:pPr>
            <a:endParaRPr lang="en-US" sz="3999" b="1" spc="-279">
              <a:solidFill>
                <a:srgbClr val="424242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marL="755651" lvl="1" indent="-377825" algn="l">
              <a:lnSpc>
                <a:spcPts val="3150"/>
              </a:lnSpc>
              <a:buFont typeface="Arial"/>
              <a:buChar char="•"/>
            </a:pPr>
            <a:r>
              <a:rPr lang="en-US" sz="3500" spc="-245">
                <a:solidFill>
                  <a:srgbClr val="424242"/>
                </a:solidFill>
                <a:latin typeface="Open Sauce"/>
                <a:ea typeface="Open Sauce"/>
                <a:cs typeface="Open Sauce"/>
                <a:sym typeface="Open Sauce"/>
              </a:rPr>
              <a:t>Volume</a:t>
            </a:r>
          </a:p>
          <a:p>
            <a:pPr algn="l">
              <a:lnSpc>
                <a:spcPts val="3150"/>
              </a:lnSpc>
            </a:pPr>
            <a:endParaRPr lang="en-US" sz="3500" spc="-245">
              <a:solidFill>
                <a:srgbClr val="424242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755651" lvl="1" indent="-377825" algn="l">
              <a:lnSpc>
                <a:spcPts val="3150"/>
              </a:lnSpc>
              <a:buFont typeface="Arial"/>
              <a:buChar char="•"/>
            </a:pPr>
            <a:r>
              <a:rPr lang="en-US" sz="3500" spc="-245">
                <a:solidFill>
                  <a:srgbClr val="424242"/>
                </a:solidFill>
                <a:latin typeface="Open Sauce"/>
                <a:ea typeface="Open Sauce"/>
                <a:cs typeface="Open Sauce"/>
                <a:sym typeface="Open Sauce"/>
              </a:rPr>
              <a:t>Velocity</a:t>
            </a:r>
          </a:p>
          <a:p>
            <a:pPr algn="l">
              <a:lnSpc>
                <a:spcPts val="3150"/>
              </a:lnSpc>
            </a:pPr>
            <a:endParaRPr lang="en-US" sz="3500" spc="-245">
              <a:solidFill>
                <a:srgbClr val="424242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755651" lvl="1" indent="-377825" algn="l">
              <a:lnSpc>
                <a:spcPts val="3150"/>
              </a:lnSpc>
              <a:buFont typeface="Arial"/>
              <a:buChar char="•"/>
            </a:pPr>
            <a:r>
              <a:rPr lang="en-US" sz="3500" spc="-245">
                <a:solidFill>
                  <a:srgbClr val="424242"/>
                </a:solidFill>
                <a:latin typeface="Open Sauce"/>
                <a:ea typeface="Open Sauce"/>
                <a:cs typeface="Open Sauce"/>
                <a:sym typeface="Open Sauce"/>
              </a:rPr>
              <a:t>Variety</a:t>
            </a:r>
          </a:p>
          <a:p>
            <a:pPr algn="l">
              <a:lnSpc>
                <a:spcPts val="3150"/>
              </a:lnSpc>
            </a:pPr>
            <a:endParaRPr lang="en-US" sz="3500" spc="-245">
              <a:solidFill>
                <a:srgbClr val="424242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755651" lvl="1" indent="-377825" algn="l">
              <a:lnSpc>
                <a:spcPts val="3150"/>
              </a:lnSpc>
              <a:buFont typeface="Arial"/>
              <a:buChar char="•"/>
            </a:pPr>
            <a:r>
              <a:rPr lang="en-US" sz="3500" spc="-245">
                <a:solidFill>
                  <a:srgbClr val="424242"/>
                </a:solidFill>
                <a:latin typeface="Open Sauce"/>
                <a:ea typeface="Open Sauce"/>
                <a:cs typeface="Open Sauce"/>
                <a:sym typeface="Open Sauce"/>
              </a:rPr>
              <a:t>Veracity</a:t>
            </a:r>
          </a:p>
          <a:p>
            <a:pPr algn="l">
              <a:lnSpc>
                <a:spcPts val="3150"/>
              </a:lnSpc>
            </a:pPr>
            <a:endParaRPr lang="en-US" sz="3500" spc="-245">
              <a:solidFill>
                <a:srgbClr val="424242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755651" lvl="1" indent="-377825" algn="l">
              <a:lnSpc>
                <a:spcPts val="3150"/>
              </a:lnSpc>
              <a:buFont typeface="Arial"/>
              <a:buChar char="•"/>
            </a:pPr>
            <a:r>
              <a:rPr lang="en-US" sz="3500" spc="-245">
                <a:solidFill>
                  <a:srgbClr val="424242"/>
                </a:solidFill>
                <a:latin typeface="Open Sauce"/>
                <a:ea typeface="Open Sauce"/>
                <a:cs typeface="Open Sauce"/>
                <a:sym typeface="Open Sauce"/>
              </a:rPr>
              <a:t>Value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H="1" flipV="1">
            <a:off x="990600" y="-142991"/>
            <a:ext cx="0" cy="10572982"/>
          </a:xfrm>
          <a:prstGeom prst="line">
            <a:avLst/>
          </a:prstGeom>
          <a:ln w="76200" cap="flat">
            <a:gradFill>
              <a:gsLst>
                <a:gs pos="0">
                  <a:srgbClr val="424242">
                    <a:alpha val="100000"/>
                  </a:srgbClr>
                </a:gs>
                <a:gs pos="25000">
                  <a:srgbClr val="9B9B9B">
                    <a:alpha val="100000"/>
                  </a:srgbClr>
                </a:gs>
                <a:gs pos="50000">
                  <a:srgbClr val="424242">
                    <a:alpha val="100000"/>
                  </a:srgbClr>
                </a:gs>
                <a:gs pos="75000">
                  <a:srgbClr val="9B9B9B">
                    <a:alpha val="100000"/>
                  </a:srgbClr>
                </a:gs>
                <a:gs pos="100000">
                  <a:srgbClr val="424242">
                    <a:alpha val="100000"/>
                  </a:srgbClr>
                </a:gs>
              </a:gsLst>
              <a:lin ang="270000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1466692" y="2835759"/>
            <a:ext cx="12669312" cy="0"/>
          </a:xfrm>
          <a:prstGeom prst="line">
            <a:avLst/>
          </a:prstGeom>
          <a:ln w="19050" cap="flat">
            <a:solidFill>
              <a:srgbClr val="42424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466692" y="1276350"/>
            <a:ext cx="14649345" cy="3181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00"/>
              </a:lnSpc>
            </a:pPr>
            <a:r>
              <a:rPr lang="en-US" sz="9000" b="1" spc="-630">
                <a:solidFill>
                  <a:srgbClr val="42424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2.1. Collection and Storage</a:t>
            </a:r>
          </a:p>
          <a:p>
            <a:pPr algn="l">
              <a:lnSpc>
                <a:spcPts val="8100"/>
              </a:lnSpc>
            </a:pPr>
            <a:endParaRPr lang="en-US" sz="9000" b="1" spc="-630">
              <a:solidFill>
                <a:srgbClr val="424242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algn="l">
              <a:lnSpc>
                <a:spcPts val="8100"/>
              </a:lnSpc>
            </a:pPr>
            <a:endParaRPr lang="en-US" sz="9000" b="1" spc="-630">
              <a:solidFill>
                <a:srgbClr val="424242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466692" y="3359634"/>
            <a:ext cx="14649345" cy="4029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3500" b="1" spc="-245">
                <a:solidFill>
                  <a:srgbClr val="42424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Data Collection</a:t>
            </a:r>
          </a:p>
          <a:p>
            <a:pPr algn="l">
              <a:lnSpc>
                <a:spcPts val="3150"/>
              </a:lnSpc>
            </a:pPr>
            <a:endParaRPr lang="en-US" sz="3500" b="1" spc="-245">
              <a:solidFill>
                <a:srgbClr val="424242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marL="755651" lvl="1" indent="-377825" algn="l">
              <a:lnSpc>
                <a:spcPts val="3150"/>
              </a:lnSpc>
              <a:buFont typeface="Arial"/>
              <a:buChar char="•"/>
            </a:pPr>
            <a:r>
              <a:rPr lang="en-US" sz="3500" spc="-245">
                <a:solidFill>
                  <a:srgbClr val="424242"/>
                </a:solidFill>
                <a:latin typeface="Open Sauce"/>
                <a:ea typeface="Open Sauce"/>
                <a:cs typeface="Open Sauce"/>
                <a:sym typeface="Open Sauce"/>
              </a:rPr>
              <a:t>Traditional databases and business systems</a:t>
            </a:r>
          </a:p>
          <a:p>
            <a:pPr algn="l">
              <a:lnSpc>
                <a:spcPts val="3150"/>
              </a:lnSpc>
            </a:pPr>
            <a:endParaRPr lang="en-US" sz="3500" spc="-245">
              <a:solidFill>
                <a:srgbClr val="424242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755651" lvl="1" indent="-377825" algn="l">
              <a:lnSpc>
                <a:spcPts val="3150"/>
              </a:lnSpc>
              <a:buFont typeface="Arial"/>
              <a:buChar char="•"/>
            </a:pPr>
            <a:r>
              <a:rPr lang="en-US" sz="3500" spc="-245">
                <a:solidFill>
                  <a:srgbClr val="424242"/>
                </a:solidFill>
                <a:latin typeface="Open Sauce"/>
                <a:ea typeface="Open Sauce"/>
                <a:cs typeface="Open Sauce"/>
                <a:sym typeface="Open Sauce"/>
              </a:rPr>
              <a:t>Sensors and IoT devices</a:t>
            </a:r>
          </a:p>
          <a:p>
            <a:pPr algn="l">
              <a:lnSpc>
                <a:spcPts val="3150"/>
              </a:lnSpc>
            </a:pPr>
            <a:endParaRPr lang="en-US" sz="3500" spc="-245">
              <a:solidFill>
                <a:srgbClr val="424242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755651" lvl="1" indent="-377825" algn="l">
              <a:lnSpc>
                <a:spcPts val="3150"/>
              </a:lnSpc>
              <a:buFont typeface="Arial"/>
              <a:buChar char="•"/>
            </a:pPr>
            <a:r>
              <a:rPr lang="en-US" sz="3500" spc="-245">
                <a:solidFill>
                  <a:srgbClr val="424242"/>
                </a:solidFill>
                <a:latin typeface="Open Sauce"/>
                <a:ea typeface="Open Sauce"/>
                <a:cs typeface="Open Sauce"/>
                <a:sym typeface="Open Sauce"/>
              </a:rPr>
              <a:t>Social media platforms</a:t>
            </a:r>
          </a:p>
          <a:p>
            <a:pPr algn="l">
              <a:lnSpc>
                <a:spcPts val="3150"/>
              </a:lnSpc>
            </a:pPr>
            <a:endParaRPr lang="en-US" sz="3500" spc="-245">
              <a:solidFill>
                <a:srgbClr val="424242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755651" lvl="1" indent="-377825" algn="l">
              <a:lnSpc>
                <a:spcPts val="3150"/>
              </a:lnSpc>
              <a:buFont typeface="Arial"/>
              <a:buChar char="•"/>
            </a:pPr>
            <a:r>
              <a:rPr lang="en-US" sz="3500" spc="-245">
                <a:solidFill>
                  <a:srgbClr val="424242"/>
                </a:solidFill>
                <a:latin typeface="Open Sauce"/>
                <a:ea typeface="Open Sauce"/>
                <a:cs typeface="Open Sauce"/>
                <a:sym typeface="Open Sauce"/>
              </a:rPr>
              <a:t>Web scraping tools</a:t>
            </a:r>
          </a:p>
          <a:p>
            <a:pPr algn="l">
              <a:lnSpc>
                <a:spcPts val="3150"/>
              </a:lnSpc>
            </a:pPr>
            <a:endParaRPr lang="en-US" sz="3500" spc="-245">
              <a:solidFill>
                <a:srgbClr val="424242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H="1" flipV="1">
            <a:off x="990600" y="-142991"/>
            <a:ext cx="0" cy="10572982"/>
          </a:xfrm>
          <a:prstGeom prst="line">
            <a:avLst/>
          </a:prstGeom>
          <a:ln w="76200" cap="flat">
            <a:gradFill>
              <a:gsLst>
                <a:gs pos="0">
                  <a:srgbClr val="424242">
                    <a:alpha val="100000"/>
                  </a:srgbClr>
                </a:gs>
                <a:gs pos="25000">
                  <a:srgbClr val="9B9B9B">
                    <a:alpha val="100000"/>
                  </a:srgbClr>
                </a:gs>
                <a:gs pos="50000">
                  <a:srgbClr val="424242">
                    <a:alpha val="100000"/>
                  </a:srgbClr>
                </a:gs>
                <a:gs pos="75000">
                  <a:srgbClr val="9B9B9B">
                    <a:alpha val="100000"/>
                  </a:srgbClr>
                </a:gs>
                <a:gs pos="100000">
                  <a:srgbClr val="424242">
                    <a:alpha val="100000"/>
                  </a:srgbClr>
                </a:gs>
              </a:gsLst>
              <a:lin ang="270000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1466692" y="2835759"/>
            <a:ext cx="12669312" cy="0"/>
          </a:xfrm>
          <a:prstGeom prst="line">
            <a:avLst/>
          </a:prstGeom>
          <a:ln w="19050" cap="flat">
            <a:solidFill>
              <a:srgbClr val="42424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466692" y="1276350"/>
            <a:ext cx="14649345" cy="3181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00"/>
              </a:lnSpc>
            </a:pPr>
            <a:r>
              <a:rPr lang="en-US" sz="9000" b="1" spc="-630">
                <a:solidFill>
                  <a:srgbClr val="42424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2.1. Collection and Storage</a:t>
            </a:r>
          </a:p>
          <a:p>
            <a:pPr algn="l">
              <a:lnSpc>
                <a:spcPts val="8100"/>
              </a:lnSpc>
            </a:pPr>
            <a:endParaRPr lang="en-US" sz="9000" b="1" spc="-630">
              <a:solidFill>
                <a:srgbClr val="424242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algn="l">
              <a:lnSpc>
                <a:spcPts val="8100"/>
              </a:lnSpc>
            </a:pPr>
            <a:endParaRPr lang="en-US" sz="9000" b="1" spc="-630">
              <a:solidFill>
                <a:srgbClr val="424242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466692" y="3350109"/>
            <a:ext cx="14649345" cy="5399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3499" b="1" spc="-244">
                <a:solidFill>
                  <a:srgbClr val="42424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Storage Technologies:</a:t>
            </a:r>
          </a:p>
          <a:p>
            <a:pPr algn="l">
              <a:lnSpc>
                <a:spcPts val="1350"/>
              </a:lnSpc>
            </a:pPr>
            <a:endParaRPr lang="en-US" sz="3499" b="1" spc="-244">
              <a:solidFill>
                <a:srgbClr val="424242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marL="755647" lvl="1" indent="-377823" algn="l">
              <a:lnSpc>
                <a:spcPts val="3149"/>
              </a:lnSpc>
              <a:buFont typeface="Arial"/>
              <a:buChar char="•"/>
            </a:pPr>
            <a:r>
              <a:rPr lang="en-US" sz="3499" b="1" spc="-244">
                <a:solidFill>
                  <a:srgbClr val="42424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Distributed File Systems: HDFS (Hadoop Distributed File System): </a:t>
            </a:r>
            <a:r>
              <a:rPr lang="en-US" sz="3499" spc="-244">
                <a:solidFill>
                  <a:srgbClr val="424242"/>
                </a:solidFill>
                <a:latin typeface="Open Sauce"/>
                <a:ea typeface="Open Sauce"/>
                <a:cs typeface="Open Sauce"/>
                <a:sym typeface="Open Sauce"/>
              </a:rPr>
              <a:t>Stores vast datasets across clusters of commodity hardware, ensuring high availability, fault tolerance, and parallel processing.</a:t>
            </a:r>
          </a:p>
          <a:p>
            <a:pPr algn="l">
              <a:lnSpc>
                <a:spcPts val="1350"/>
              </a:lnSpc>
            </a:pPr>
            <a:endParaRPr lang="en-US" sz="3499" spc="-244">
              <a:solidFill>
                <a:srgbClr val="424242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algn="l">
              <a:lnSpc>
                <a:spcPts val="450"/>
              </a:lnSpc>
            </a:pPr>
            <a:endParaRPr lang="en-US" sz="3499" spc="-244">
              <a:solidFill>
                <a:srgbClr val="424242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755647" lvl="1" indent="-377823" algn="l">
              <a:lnSpc>
                <a:spcPts val="3149"/>
              </a:lnSpc>
              <a:buFont typeface="Arial"/>
              <a:buChar char="•"/>
            </a:pPr>
            <a:r>
              <a:rPr lang="en-US" sz="3499" b="1" spc="-244">
                <a:solidFill>
                  <a:srgbClr val="42424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NoSQL Databases: </a:t>
            </a:r>
            <a:r>
              <a:rPr lang="en-US" sz="3499" spc="-244">
                <a:solidFill>
                  <a:srgbClr val="424242"/>
                </a:solidFill>
                <a:latin typeface="Open Sauce"/>
                <a:ea typeface="Open Sauce"/>
                <a:cs typeface="Open Sauce"/>
                <a:sym typeface="Open Sauce"/>
              </a:rPr>
              <a:t>Flexible, schema-less alternatives to traditional databases, catering to diverse data structures.</a:t>
            </a:r>
          </a:p>
          <a:p>
            <a:pPr algn="l">
              <a:lnSpc>
                <a:spcPts val="450"/>
              </a:lnSpc>
            </a:pPr>
            <a:endParaRPr lang="en-US" sz="3499" spc="-244">
              <a:solidFill>
                <a:srgbClr val="424242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1511294" lvl="2" indent="-503765" algn="l">
              <a:lnSpc>
                <a:spcPts val="3149"/>
              </a:lnSpc>
              <a:buFont typeface="Arial"/>
              <a:buChar char="⚬"/>
            </a:pPr>
            <a:r>
              <a:rPr lang="en-US" sz="3499" spc="-244">
                <a:solidFill>
                  <a:srgbClr val="424242"/>
                </a:solidFill>
                <a:latin typeface="Open Sauce"/>
                <a:ea typeface="Open Sauce"/>
                <a:cs typeface="Open Sauce"/>
                <a:sym typeface="Open Sauce"/>
              </a:rPr>
              <a:t> MongoDB, Cassandra, HBase</a:t>
            </a:r>
          </a:p>
          <a:p>
            <a:pPr algn="l">
              <a:lnSpc>
                <a:spcPts val="1350"/>
              </a:lnSpc>
            </a:pPr>
            <a:endParaRPr lang="en-US" sz="3499" spc="-244">
              <a:solidFill>
                <a:srgbClr val="424242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755647" lvl="1" indent="-377823" algn="l">
              <a:lnSpc>
                <a:spcPts val="3149"/>
              </a:lnSpc>
              <a:buFont typeface="Arial"/>
              <a:buChar char="•"/>
            </a:pPr>
            <a:r>
              <a:rPr lang="en-US" sz="3499" b="1" spc="-244">
                <a:solidFill>
                  <a:srgbClr val="42424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Cloud Storage: </a:t>
            </a:r>
            <a:r>
              <a:rPr lang="en-US" sz="3499" spc="-244">
                <a:solidFill>
                  <a:srgbClr val="424242"/>
                </a:solidFill>
                <a:latin typeface="Open Sauce"/>
                <a:ea typeface="Open Sauce"/>
                <a:cs typeface="Open Sauce"/>
                <a:sym typeface="Open Sauce"/>
              </a:rPr>
              <a:t>Offers scalability, flexibility, and cost-effectiveness with pay-as-you-go models. Provides managed services that streamline data management tasks.</a:t>
            </a:r>
          </a:p>
          <a:p>
            <a:pPr algn="l">
              <a:lnSpc>
                <a:spcPts val="450"/>
              </a:lnSpc>
            </a:pPr>
            <a:endParaRPr lang="en-US" sz="3499" spc="-244">
              <a:solidFill>
                <a:srgbClr val="424242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1511294" lvl="2" indent="-503765" algn="l">
              <a:lnSpc>
                <a:spcPts val="3149"/>
              </a:lnSpc>
              <a:buFont typeface="Arial"/>
              <a:buChar char="⚬"/>
            </a:pPr>
            <a:r>
              <a:rPr lang="en-US" sz="3499" spc="-244">
                <a:solidFill>
                  <a:srgbClr val="424242"/>
                </a:solidFill>
                <a:latin typeface="Open Sauce"/>
                <a:ea typeface="Open Sauce"/>
                <a:cs typeface="Open Sauce"/>
                <a:sym typeface="Open Sauce"/>
              </a:rPr>
              <a:t>Amazon S3, Google Cloud Storage, Microsoft Azure</a:t>
            </a:r>
          </a:p>
          <a:p>
            <a:pPr algn="l">
              <a:lnSpc>
                <a:spcPts val="2700"/>
              </a:lnSpc>
            </a:pPr>
            <a:endParaRPr lang="en-US" sz="3499" spc="-244">
              <a:solidFill>
                <a:srgbClr val="424242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H="1" flipV="1">
            <a:off x="990600" y="-142991"/>
            <a:ext cx="0" cy="10572982"/>
          </a:xfrm>
          <a:prstGeom prst="line">
            <a:avLst/>
          </a:prstGeom>
          <a:ln w="76200" cap="flat">
            <a:gradFill>
              <a:gsLst>
                <a:gs pos="0">
                  <a:srgbClr val="424242">
                    <a:alpha val="100000"/>
                  </a:srgbClr>
                </a:gs>
                <a:gs pos="25000">
                  <a:srgbClr val="9B9B9B">
                    <a:alpha val="100000"/>
                  </a:srgbClr>
                </a:gs>
                <a:gs pos="50000">
                  <a:srgbClr val="424242">
                    <a:alpha val="100000"/>
                  </a:srgbClr>
                </a:gs>
                <a:gs pos="75000">
                  <a:srgbClr val="9B9B9B">
                    <a:alpha val="100000"/>
                  </a:srgbClr>
                </a:gs>
                <a:gs pos="100000">
                  <a:srgbClr val="424242">
                    <a:alpha val="100000"/>
                  </a:srgbClr>
                </a:gs>
              </a:gsLst>
              <a:lin ang="270000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247696" y="5143500"/>
            <a:ext cx="5012800" cy="3882759"/>
            <a:chOff x="0" y="0"/>
            <a:chExt cx="1256638" cy="97335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56638" cy="973353"/>
            </a:xfrm>
            <a:custGeom>
              <a:avLst/>
              <a:gdLst/>
              <a:ahLst/>
              <a:cxnLst/>
              <a:rect l="l" t="t" r="r" b="b"/>
              <a:pathLst>
                <a:path w="1256638" h="973353">
                  <a:moveTo>
                    <a:pt x="0" y="0"/>
                  </a:moveTo>
                  <a:lnTo>
                    <a:pt x="1256638" y="0"/>
                  </a:lnTo>
                  <a:lnTo>
                    <a:pt x="1256638" y="973353"/>
                  </a:lnTo>
                  <a:lnTo>
                    <a:pt x="0" y="97335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424242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256638" cy="10209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637600" y="5143500"/>
            <a:ext cx="5012800" cy="3882759"/>
            <a:chOff x="0" y="0"/>
            <a:chExt cx="1256638" cy="97335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56638" cy="973353"/>
            </a:xfrm>
            <a:custGeom>
              <a:avLst/>
              <a:gdLst/>
              <a:ahLst/>
              <a:cxnLst/>
              <a:rect l="l" t="t" r="r" b="b"/>
              <a:pathLst>
                <a:path w="1256638" h="973353">
                  <a:moveTo>
                    <a:pt x="0" y="0"/>
                  </a:moveTo>
                  <a:lnTo>
                    <a:pt x="1256638" y="0"/>
                  </a:lnTo>
                  <a:lnTo>
                    <a:pt x="1256638" y="973353"/>
                  </a:lnTo>
                  <a:lnTo>
                    <a:pt x="0" y="97335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424242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256638" cy="10209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2027504" y="5143500"/>
            <a:ext cx="5012800" cy="3882759"/>
            <a:chOff x="0" y="0"/>
            <a:chExt cx="1256638" cy="97335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56638" cy="973353"/>
            </a:xfrm>
            <a:custGeom>
              <a:avLst/>
              <a:gdLst/>
              <a:ahLst/>
              <a:cxnLst/>
              <a:rect l="l" t="t" r="r" b="b"/>
              <a:pathLst>
                <a:path w="1256638" h="973353">
                  <a:moveTo>
                    <a:pt x="0" y="0"/>
                  </a:moveTo>
                  <a:lnTo>
                    <a:pt x="1256638" y="0"/>
                  </a:lnTo>
                  <a:lnTo>
                    <a:pt x="1256638" y="973353"/>
                  </a:lnTo>
                  <a:lnTo>
                    <a:pt x="0" y="97335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424242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1256638" cy="10209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664188" y="5531334"/>
            <a:ext cx="4179817" cy="622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999"/>
              </a:lnSpc>
              <a:spcBef>
                <a:spcPct val="0"/>
              </a:spcBef>
            </a:pPr>
            <a:r>
              <a:rPr lang="en-US" sz="3999" b="1" spc="-119">
                <a:solidFill>
                  <a:srgbClr val="42424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</a:t>
            </a:r>
            <a:r>
              <a:rPr lang="en-US" sz="3999" b="1" u="none" strike="noStrike" spc="-119">
                <a:solidFill>
                  <a:srgbClr val="42424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pache Hadoop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66692" y="1276350"/>
            <a:ext cx="14649345" cy="1123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00"/>
              </a:lnSpc>
            </a:pPr>
            <a:r>
              <a:rPr lang="en-US" sz="9000" b="1" spc="-630">
                <a:solidFill>
                  <a:srgbClr val="42424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2.2. Processing and Analysis</a:t>
            </a:r>
          </a:p>
        </p:txBody>
      </p:sp>
      <p:sp>
        <p:nvSpPr>
          <p:cNvPr id="14" name="AutoShape 14"/>
          <p:cNvSpPr/>
          <p:nvPr/>
        </p:nvSpPr>
        <p:spPr>
          <a:xfrm>
            <a:off x="1466692" y="2835759"/>
            <a:ext cx="12669312" cy="0"/>
          </a:xfrm>
          <a:prstGeom prst="line">
            <a:avLst/>
          </a:prstGeom>
          <a:ln w="19050" cap="flat">
            <a:solidFill>
              <a:srgbClr val="42424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Box 15"/>
          <p:cNvSpPr txBox="1"/>
          <p:nvPr/>
        </p:nvSpPr>
        <p:spPr>
          <a:xfrm>
            <a:off x="7054092" y="5531334"/>
            <a:ext cx="4179817" cy="622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999"/>
              </a:lnSpc>
              <a:spcBef>
                <a:spcPct val="0"/>
              </a:spcBef>
            </a:pPr>
            <a:r>
              <a:rPr lang="en-US" sz="3999" b="1" spc="-119">
                <a:solidFill>
                  <a:srgbClr val="42424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</a:t>
            </a:r>
            <a:r>
              <a:rPr lang="en-US" sz="3999" b="1" u="none" strike="noStrike" spc="-119">
                <a:solidFill>
                  <a:srgbClr val="42424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pache Spark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443996" y="5531334"/>
            <a:ext cx="4179817" cy="622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999"/>
              </a:lnSpc>
              <a:spcBef>
                <a:spcPct val="0"/>
              </a:spcBef>
            </a:pPr>
            <a:r>
              <a:rPr lang="en-US" sz="3999" b="1" spc="-119">
                <a:solidFill>
                  <a:srgbClr val="42424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</a:t>
            </a:r>
            <a:r>
              <a:rPr lang="en-US" sz="3999" b="1" u="none" strike="noStrike" spc="-119">
                <a:solidFill>
                  <a:srgbClr val="42424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pache Flink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66692" y="3359634"/>
            <a:ext cx="14649345" cy="1333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3500" b="1" spc="-245">
                <a:solidFill>
                  <a:srgbClr val="42424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Data Processing: </a:t>
            </a:r>
          </a:p>
          <a:p>
            <a:pPr algn="l">
              <a:lnSpc>
                <a:spcPts val="899"/>
              </a:lnSpc>
            </a:pPr>
            <a:endParaRPr lang="en-US" sz="3500" b="1" spc="-245">
              <a:solidFill>
                <a:srgbClr val="424242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algn="l">
              <a:lnSpc>
                <a:spcPts val="3150"/>
              </a:lnSpc>
            </a:pPr>
            <a:r>
              <a:rPr lang="en-US" sz="3500" spc="-245">
                <a:solidFill>
                  <a:srgbClr val="424242"/>
                </a:solidFill>
                <a:latin typeface="Open Sauce"/>
                <a:ea typeface="Open Sauce"/>
                <a:cs typeface="Open Sauce"/>
                <a:sym typeface="Open Sauce"/>
              </a:rPr>
              <a:t>This represents the transition from raw data to valuable insights through operations like data cleansing, transformation, aggregation, and enrichment.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590923" y="6667985"/>
            <a:ext cx="4326345" cy="828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lang="en-US" sz="3500" spc="-245">
                <a:solidFill>
                  <a:srgbClr val="424242"/>
                </a:solidFill>
                <a:latin typeface="Open Sauce"/>
                <a:ea typeface="Open Sauce"/>
                <a:cs typeface="Open Sauce"/>
                <a:sym typeface="Open Sauce"/>
              </a:rPr>
              <a:t>Cost-effective batch processing framework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054092" y="6687035"/>
            <a:ext cx="4326345" cy="828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lang="en-US" sz="3500" spc="-245">
                <a:solidFill>
                  <a:srgbClr val="424242"/>
                </a:solidFill>
                <a:latin typeface="Open Sauce"/>
                <a:ea typeface="Open Sauce"/>
                <a:cs typeface="Open Sauce"/>
                <a:sym typeface="Open Sauce"/>
              </a:rPr>
              <a:t>Versatile batch and near real-time engine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374300" y="6687035"/>
            <a:ext cx="4326345" cy="828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lang="en-US" sz="3500" spc="-245">
                <a:solidFill>
                  <a:srgbClr val="424242"/>
                </a:solidFill>
                <a:latin typeface="Open Sauce"/>
                <a:ea typeface="Open Sauce"/>
                <a:cs typeface="Open Sauce"/>
                <a:sym typeface="Open Sauce"/>
              </a:rPr>
              <a:t>Native real-time stream processing platform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H="1" flipV="1">
            <a:off x="990600" y="-142991"/>
            <a:ext cx="0" cy="10572982"/>
          </a:xfrm>
          <a:prstGeom prst="line">
            <a:avLst/>
          </a:prstGeom>
          <a:ln w="76200" cap="flat">
            <a:gradFill>
              <a:gsLst>
                <a:gs pos="0">
                  <a:srgbClr val="424242">
                    <a:alpha val="100000"/>
                  </a:srgbClr>
                </a:gs>
                <a:gs pos="25000">
                  <a:srgbClr val="9B9B9B">
                    <a:alpha val="100000"/>
                  </a:srgbClr>
                </a:gs>
                <a:gs pos="50000">
                  <a:srgbClr val="424242">
                    <a:alpha val="100000"/>
                  </a:srgbClr>
                </a:gs>
                <a:gs pos="75000">
                  <a:srgbClr val="9B9B9B">
                    <a:alpha val="100000"/>
                  </a:srgbClr>
                </a:gs>
                <a:gs pos="100000">
                  <a:srgbClr val="424242">
                    <a:alpha val="100000"/>
                  </a:srgbClr>
                </a:gs>
              </a:gsLst>
              <a:lin ang="270000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247696" y="5143500"/>
            <a:ext cx="5012800" cy="3882759"/>
            <a:chOff x="0" y="0"/>
            <a:chExt cx="1256638" cy="97335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56638" cy="973353"/>
            </a:xfrm>
            <a:custGeom>
              <a:avLst/>
              <a:gdLst/>
              <a:ahLst/>
              <a:cxnLst/>
              <a:rect l="l" t="t" r="r" b="b"/>
              <a:pathLst>
                <a:path w="1256638" h="973353">
                  <a:moveTo>
                    <a:pt x="0" y="0"/>
                  </a:moveTo>
                  <a:lnTo>
                    <a:pt x="1256638" y="0"/>
                  </a:lnTo>
                  <a:lnTo>
                    <a:pt x="1256638" y="973353"/>
                  </a:lnTo>
                  <a:lnTo>
                    <a:pt x="0" y="97335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424242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256638" cy="10209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637600" y="5143500"/>
            <a:ext cx="5012800" cy="3882759"/>
            <a:chOff x="0" y="0"/>
            <a:chExt cx="1256638" cy="97335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56638" cy="973353"/>
            </a:xfrm>
            <a:custGeom>
              <a:avLst/>
              <a:gdLst/>
              <a:ahLst/>
              <a:cxnLst/>
              <a:rect l="l" t="t" r="r" b="b"/>
              <a:pathLst>
                <a:path w="1256638" h="973353">
                  <a:moveTo>
                    <a:pt x="0" y="0"/>
                  </a:moveTo>
                  <a:lnTo>
                    <a:pt x="1256638" y="0"/>
                  </a:lnTo>
                  <a:lnTo>
                    <a:pt x="1256638" y="973353"/>
                  </a:lnTo>
                  <a:lnTo>
                    <a:pt x="0" y="97335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424242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256638" cy="10209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2027504" y="5143500"/>
            <a:ext cx="5012800" cy="3882759"/>
            <a:chOff x="0" y="0"/>
            <a:chExt cx="1256638" cy="97335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56638" cy="973353"/>
            </a:xfrm>
            <a:custGeom>
              <a:avLst/>
              <a:gdLst/>
              <a:ahLst/>
              <a:cxnLst/>
              <a:rect l="l" t="t" r="r" b="b"/>
              <a:pathLst>
                <a:path w="1256638" h="973353">
                  <a:moveTo>
                    <a:pt x="0" y="0"/>
                  </a:moveTo>
                  <a:lnTo>
                    <a:pt x="1256638" y="0"/>
                  </a:lnTo>
                  <a:lnTo>
                    <a:pt x="1256638" y="973353"/>
                  </a:lnTo>
                  <a:lnTo>
                    <a:pt x="0" y="97335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424242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1256638" cy="10209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247696" y="5531334"/>
            <a:ext cx="5012800" cy="622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999"/>
              </a:lnSpc>
              <a:spcBef>
                <a:spcPct val="0"/>
              </a:spcBef>
            </a:pPr>
            <a:r>
              <a:rPr lang="en-US" sz="3999" b="1" spc="-119">
                <a:solidFill>
                  <a:srgbClr val="42424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St</a:t>
            </a:r>
            <a:r>
              <a:rPr lang="en-US" sz="3999" b="1" u="none" strike="noStrike" spc="-119">
                <a:solidFill>
                  <a:srgbClr val="42424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atistical Analysis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66692" y="1276350"/>
            <a:ext cx="14649345" cy="1123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00"/>
              </a:lnSpc>
            </a:pPr>
            <a:r>
              <a:rPr lang="en-US" sz="9000" b="1" spc="-630">
                <a:solidFill>
                  <a:srgbClr val="42424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2.2. Processing and Analysis</a:t>
            </a:r>
          </a:p>
        </p:txBody>
      </p:sp>
      <p:sp>
        <p:nvSpPr>
          <p:cNvPr id="14" name="AutoShape 14"/>
          <p:cNvSpPr/>
          <p:nvPr/>
        </p:nvSpPr>
        <p:spPr>
          <a:xfrm>
            <a:off x="1466692" y="2835759"/>
            <a:ext cx="12669312" cy="0"/>
          </a:xfrm>
          <a:prstGeom prst="line">
            <a:avLst/>
          </a:prstGeom>
          <a:ln w="19050" cap="flat">
            <a:solidFill>
              <a:srgbClr val="42424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Box 15"/>
          <p:cNvSpPr txBox="1"/>
          <p:nvPr/>
        </p:nvSpPr>
        <p:spPr>
          <a:xfrm>
            <a:off x="1466692" y="3359634"/>
            <a:ext cx="14649345" cy="933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3500" b="1" spc="-245">
                <a:solidFill>
                  <a:srgbClr val="42424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Data Analysis: </a:t>
            </a:r>
          </a:p>
          <a:p>
            <a:pPr algn="l">
              <a:lnSpc>
                <a:spcPts val="899"/>
              </a:lnSpc>
            </a:pPr>
            <a:endParaRPr lang="en-US" sz="3500" b="1" spc="-245">
              <a:solidFill>
                <a:srgbClr val="424242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algn="l">
              <a:lnSpc>
                <a:spcPts val="3150"/>
              </a:lnSpc>
            </a:pPr>
            <a:r>
              <a:rPr lang="en-US" sz="3500" spc="-245">
                <a:solidFill>
                  <a:srgbClr val="424242"/>
                </a:solidFill>
                <a:latin typeface="Open Sauce"/>
                <a:ea typeface="Open Sauce"/>
                <a:cs typeface="Open Sauce"/>
                <a:sym typeface="Open Sauce"/>
              </a:rPr>
              <a:t>After processing, rigorous analysis extracts insights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47696" y="6667985"/>
            <a:ext cx="5008904" cy="162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lang="en-US" sz="3500" spc="-245">
                <a:solidFill>
                  <a:srgbClr val="424242"/>
                </a:solidFill>
                <a:latin typeface="Open Sauce"/>
                <a:ea typeface="Open Sauce"/>
                <a:cs typeface="Open Sauce"/>
                <a:sym typeface="Open Sauce"/>
              </a:rPr>
              <a:t>Traditional mathematical methods for understanding data patterns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637600" y="6687035"/>
            <a:ext cx="5012800" cy="122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lang="en-US" sz="3500" spc="-245">
                <a:solidFill>
                  <a:srgbClr val="424242"/>
                </a:solidFill>
                <a:latin typeface="Open Sauce"/>
                <a:ea typeface="Open Sauce"/>
                <a:cs typeface="Open Sauce"/>
                <a:sym typeface="Open Sauce"/>
              </a:rPr>
              <a:t> Automated algorithms that learn from data to make predictions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031400" y="6687035"/>
            <a:ext cx="5008904" cy="122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lang="en-US" sz="3500" spc="-245">
                <a:solidFill>
                  <a:srgbClr val="424242"/>
                </a:solidFill>
                <a:latin typeface="Open Sauce"/>
                <a:ea typeface="Open Sauce"/>
                <a:cs typeface="Open Sauce"/>
                <a:sym typeface="Open Sauce"/>
              </a:rPr>
              <a:t>Exploratory techniques to discover hidden insights in data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637600" y="5531334"/>
            <a:ext cx="5012800" cy="622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999"/>
              </a:lnSpc>
              <a:spcBef>
                <a:spcPct val="0"/>
              </a:spcBef>
            </a:pPr>
            <a:r>
              <a:rPr lang="en-US" sz="3999" b="1" spc="-119">
                <a:solidFill>
                  <a:srgbClr val="42424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</a:t>
            </a:r>
            <a:r>
              <a:rPr lang="en-US" sz="3999" b="1" u="none" strike="noStrike" spc="-119">
                <a:solidFill>
                  <a:srgbClr val="42424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achine Learning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027504" y="5531334"/>
            <a:ext cx="5012800" cy="622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999"/>
              </a:lnSpc>
              <a:spcBef>
                <a:spcPct val="0"/>
              </a:spcBef>
            </a:pPr>
            <a:r>
              <a:rPr lang="en-US" sz="3999" b="1" spc="-119">
                <a:solidFill>
                  <a:srgbClr val="42424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</a:t>
            </a:r>
            <a:r>
              <a:rPr lang="en-US" sz="3999" b="1" u="none" strike="noStrike" spc="-119">
                <a:solidFill>
                  <a:srgbClr val="42424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ata Mining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H="1" flipV="1">
            <a:off x="990600" y="-142991"/>
            <a:ext cx="0" cy="10572982"/>
          </a:xfrm>
          <a:prstGeom prst="line">
            <a:avLst/>
          </a:prstGeom>
          <a:ln w="76200" cap="flat">
            <a:gradFill>
              <a:gsLst>
                <a:gs pos="0">
                  <a:srgbClr val="424242">
                    <a:alpha val="100000"/>
                  </a:srgbClr>
                </a:gs>
                <a:gs pos="25000">
                  <a:srgbClr val="9B9B9B">
                    <a:alpha val="100000"/>
                  </a:srgbClr>
                </a:gs>
                <a:gs pos="50000">
                  <a:srgbClr val="424242">
                    <a:alpha val="100000"/>
                  </a:srgbClr>
                </a:gs>
                <a:gs pos="75000">
                  <a:srgbClr val="9B9B9B">
                    <a:alpha val="100000"/>
                  </a:srgbClr>
                </a:gs>
                <a:gs pos="100000">
                  <a:srgbClr val="424242">
                    <a:alpha val="100000"/>
                  </a:srgbClr>
                </a:gs>
              </a:gsLst>
              <a:lin ang="270000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1466692" y="2835759"/>
            <a:ext cx="12669312" cy="0"/>
          </a:xfrm>
          <a:prstGeom prst="line">
            <a:avLst/>
          </a:prstGeom>
          <a:ln w="19050" cap="flat">
            <a:solidFill>
              <a:srgbClr val="42424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466692" y="1276350"/>
            <a:ext cx="16623890" cy="1123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00"/>
              </a:lnSpc>
            </a:pPr>
            <a:r>
              <a:rPr lang="en-US" sz="9000" b="1" spc="-630">
                <a:solidFill>
                  <a:srgbClr val="42424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2.3. Integration and Visualization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466692" y="3359634"/>
            <a:ext cx="14649345" cy="6743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3500" b="1" spc="-245">
                <a:solidFill>
                  <a:srgbClr val="42424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Key Integration Tasks</a:t>
            </a:r>
          </a:p>
          <a:p>
            <a:pPr algn="l">
              <a:lnSpc>
                <a:spcPts val="3150"/>
              </a:lnSpc>
            </a:pPr>
            <a:endParaRPr lang="en-US" sz="3500" b="1" spc="-245">
              <a:solidFill>
                <a:srgbClr val="424242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algn="l">
              <a:lnSpc>
                <a:spcPts val="3150"/>
              </a:lnSpc>
            </a:pPr>
            <a:r>
              <a:rPr lang="en-US" sz="3500" b="1" spc="-245">
                <a:solidFill>
                  <a:srgbClr val="42424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   Data Cleansing:</a:t>
            </a:r>
          </a:p>
          <a:p>
            <a:pPr algn="l">
              <a:lnSpc>
                <a:spcPts val="899"/>
              </a:lnSpc>
            </a:pPr>
            <a:endParaRPr lang="en-US" sz="3500" b="1" spc="-245">
              <a:solidFill>
                <a:srgbClr val="424242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marL="755651" lvl="1" indent="-377825" algn="l">
              <a:lnSpc>
                <a:spcPts val="3150"/>
              </a:lnSpc>
              <a:buFont typeface="Arial"/>
              <a:buChar char="•"/>
            </a:pPr>
            <a:r>
              <a:rPr lang="en-US" sz="3500" spc="-245">
                <a:solidFill>
                  <a:srgbClr val="424242"/>
                </a:solidFill>
                <a:latin typeface="Open Sauce"/>
                <a:ea typeface="Open Sauce"/>
                <a:cs typeface="Open Sauce"/>
                <a:sym typeface="Open Sauce"/>
              </a:rPr>
              <a:t>Fixes errors, inconsistencies, and duplicates</a:t>
            </a:r>
          </a:p>
          <a:p>
            <a:pPr marL="755651" lvl="1" indent="-377825" algn="l">
              <a:lnSpc>
                <a:spcPts val="3150"/>
              </a:lnSpc>
              <a:buFont typeface="Arial"/>
              <a:buChar char="•"/>
            </a:pPr>
            <a:r>
              <a:rPr lang="en-US" sz="3500" spc="-245">
                <a:solidFill>
                  <a:srgbClr val="424242"/>
                </a:solidFill>
                <a:latin typeface="Open Sauce"/>
                <a:ea typeface="Open Sauce"/>
                <a:cs typeface="Open Sauce"/>
                <a:sym typeface="Open Sauce"/>
              </a:rPr>
              <a:t>Identifies erroneous data points</a:t>
            </a:r>
          </a:p>
          <a:p>
            <a:pPr marL="755651" lvl="1" indent="-377825" algn="l">
              <a:lnSpc>
                <a:spcPts val="3150"/>
              </a:lnSpc>
              <a:buFont typeface="Arial"/>
              <a:buChar char="•"/>
            </a:pPr>
            <a:r>
              <a:rPr lang="en-US" sz="3500" spc="-245">
                <a:solidFill>
                  <a:srgbClr val="424242"/>
                </a:solidFill>
                <a:latin typeface="Open Sauce"/>
                <a:ea typeface="Open Sauce"/>
                <a:cs typeface="Open Sauce"/>
                <a:sym typeface="Open Sauce"/>
              </a:rPr>
              <a:t>Corrects mistakes</a:t>
            </a:r>
          </a:p>
          <a:p>
            <a:pPr algn="l">
              <a:lnSpc>
                <a:spcPts val="3150"/>
              </a:lnSpc>
            </a:pPr>
            <a:endParaRPr lang="en-US" sz="3500" spc="-245">
              <a:solidFill>
                <a:srgbClr val="424242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algn="l">
              <a:lnSpc>
                <a:spcPts val="3150"/>
              </a:lnSpc>
            </a:pPr>
            <a:r>
              <a:rPr lang="en-US" sz="3500" spc="-245">
                <a:solidFill>
                  <a:srgbClr val="424242"/>
                </a:solidFill>
                <a:latin typeface="Open Sauce"/>
                <a:ea typeface="Open Sauce"/>
                <a:cs typeface="Open Sauce"/>
                <a:sym typeface="Open Sauce"/>
              </a:rPr>
              <a:t>    </a:t>
            </a:r>
            <a:r>
              <a:rPr lang="en-US" sz="3500" b="1" spc="-245">
                <a:solidFill>
                  <a:srgbClr val="42424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Data Transformation:</a:t>
            </a:r>
          </a:p>
          <a:p>
            <a:pPr algn="l">
              <a:lnSpc>
                <a:spcPts val="899"/>
              </a:lnSpc>
            </a:pPr>
            <a:endParaRPr lang="en-US" sz="3500" b="1" spc="-245">
              <a:solidFill>
                <a:srgbClr val="424242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marL="755651" lvl="1" indent="-377825" algn="l">
              <a:lnSpc>
                <a:spcPts val="3150"/>
              </a:lnSpc>
              <a:buFont typeface="Arial"/>
              <a:buChar char="•"/>
            </a:pPr>
            <a:r>
              <a:rPr lang="en-US" sz="3500" spc="-245">
                <a:solidFill>
                  <a:srgbClr val="424242"/>
                </a:solidFill>
                <a:latin typeface="Open Sauce"/>
                <a:ea typeface="Open Sauce"/>
                <a:cs typeface="Open Sauce"/>
                <a:sym typeface="Open Sauce"/>
              </a:rPr>
              <a:t>Unifies data formats, structures, and meanings</a:t>
            </a:r>
          </a:p>
          <a:p>
            <a:pPr marL="755651" lvl="1" indent="-377825" algn="l">
              <a:lnSpc>
                <a:spcPts val="3150"/>
              </a:lnSpc>
              <a:buFont typeface="Arial"/>
              <a:buChar char="•"/>
            </a:pPr>
            <a:r>
              <a:rPr lang="en-US" sz="3500" spc="-245">
                <a:solidFill>
                  <a:srgbClr val="424242"/>
                </a:solidFill>
                <a:latin typeface="Open Sauce"/>
                <a:ea typeface="Open Sauce"/>
                <a:cs typeface="Open Sauce"/>
                <a:sym typeface="Open Sauce"/>
              </a:rPr>
              <a:t>Converts data from original form to standard representation</a:t>
            </a:r>
          </a:p>
          <a:p>
            <a:pPr algn="l">
              <a:lnSpc>
                <a:spcPts val="3150"/>
              </a:lnSpc>
            </a:pPr>
            <a:endParaRPr lang="en-US" sz="3500" spc="-245">
              <a:solidFill>
                <a:srgbClr val="424242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algn="l">
              <a:lnSpc>
                <a:spcPts val="3150"/>
              </a:lnSpc>
            </a:pPr>
            <a:r>
              <a:rPr lang="en-US" sz="3500" spc="-245">
                <a:solidFill>
                  <a:srgbClr val="424242"/>
                </a:solidFill>
                <a:latin typeface="Open Sauce"/>
                <a:ea typeface="Open Sauce"/>
                <a:cs typeface="Open Sauce"/>
                <a:sym typeface="Open Sauce"/>
              </a:rPr>
              <a:t>   </a:t>
            </a:r>
            <a:r>
              <a:rPr lang="en-US" sz="3500" b="1" spc="-245">
                <a:solidFill>
                  <a:srgbClr val="42424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Schema Integration:</a:t>
            </a:r>
          </a:p>
          <a:p>
            <a:pPr algn="l">
              <a:lnSpc>
                <a:spcPts val="899"/>
              </a:lnSpc>
            </a:pPr>
            <a:endParaRPr lang="en-US" sz="3500" b="1" spc="-245">
              <a:solidFill>
                <a:srgbClr val="424242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marL="755651" lvl="1" indent="-377825" algn="l">
              <a:lnSpc>
                <a:spcPts val="3150"/>
              </a:lnSpc>
              <a:buFont typeface="Arial"/>
              <a:buChar char="•"/>
            </a:pPr>
            <a:r>
              <a:rPr lang="en-US" sz="3500" spc="-245">
                <a:solidFill>
                  <a:srgbClr val="424242"/>
                </a:solidFill>
                <a:latin typeface="Open Sauce"/>
                <a:ea typeface="Open Sauce"/>
                <a:cs typeface="Open Sauce"/>
                <a:sym typeface="Open Sauce"/>
              </a:rPr>
              <a:t>Combines data structures into a single cohesive model</a:t>
            </a:r>
          </a:p>
          <a:p>
            <a:pPr marL="755651" lvl="1" indent="-377825" algn="l">
              <a:lnSpc>
                <a:spcPts val="3150"/>
              </a:lnSpc>
              <a:buFont typeface="Arial"/>
              <a:buChar char="•"/>
            </a:pPr>
            <a:r>
              <a:rPr lang="en-US" sz="3500" spc="-245">
                <a:solidFill>
                  <a:srgbClr val="424242"/>
                </a:solidFill>
                <a:latin typeface="Open Sauce"/>
                <a:ea typeface="Open Sauce"/>
                <a:cs typeface="Open Sauce"/>
                <a:sym typeface="Open Sauce"/>
              </a:rPr>
              <a:t>Aligns and connects data elements, entities, and relationships</a:t>
            </a:r>
          </a:p>
          <a:p>
            <a:pPr algn="l">
              <a:lnSpc>
                <a:spcPts val="3150"/>
              </a:lnSpc>
            </a:pPr>
            <a:endParaRPr lang="en-US" sz="3500" spc="-245">
              <a:solidFill>
                <a:srgbClr val="424242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algn="l">
              <a:lnSpc>
                <a:spcPts val="3150"/>
              </a:lnSpc>
            </a:pPr>
            <a:endParaRPr lang="en-US" sz="3500" spc="-245">
              <a:solidFill>
                <a:srgbClr val="424242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H="1" flipV="1">
            <a:off x="990600" y="-142991"/>
            <a:ext cx="0" cy="10572982"/>
          </a:xfrm>
          <a:prstGeom prst="line">
            <a:avLst/>
          </a:prstGeom>
          <a:ln w="76200" cap="flat">
            <a:gradFill>
              <a:gsLst>
                <a:gs pos="0">
                  <a:srgbClr val="424242">
                    <a:alpha val="100000"/>
                  </a:srgbClr>
                </a:gs>
                <a:gs pos="25000">
                  <a:srgbClr val="9B9B9B">
                    <a:alpha val="100000"/>
                  </a:srgbClr>
                </a:gs>
                <a:gs pos="50000">
                  <a:srgbClr val="424242">
                    <a:alpha val="100000"/>
                  </a:srgbClr>
                </a:gs>
                <a:gs pos="75000">
                  <a:srgbClr val="9B9B9B">
                    <a:alpha val="100000"/>
                  </a:srgbClr>
                </a:gs>
                <a:gs pos="100000">
                  <a:srgbClr val="424242">
                    <a:alpha val="100000"/>
                  </a:srgbClr>
                </a:gs>
              </a:gsLst>
              <a:lin ang="270000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1466692" y="2835759"/>
            <a:ext cx="12669312" cy="0"/>
          </a:xfrm>
          <a:prstGeom prst="line">
            <a:avLst/>
          </a:prstGeom>
          <a:ln w="19050" cap="flat">
            <a:solidFill>
              <a:srgbClr val="42424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466692" y="1276350"/>
            <a:ext cx="16623890" cy="1123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00"/>
              </a:lnSpc>
            </a:pPr>
            <a:r>
              <a:rPr lang="en-US" sz="9000" b="1" spc="-630">
                <a:solidFill>
                  <a:srgbClr val="42424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2.3. Integration and Visualization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466692" y="3359634"/>
            <a:ext cx="14649345" cy="2743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3500" b="1" spc="-245">
                <a:solidFill>
                  <a:srgbClr val="42424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Data Visualization: </a:t>
            </a:r>
            <a:r>
              <a:rPr lang="en-US" sz="3500" spc="-245">
                <a:solidFill>
                  <a:srgbClr val="424242"/>
                </a:solidFill>
                <a:latin typeface="Open Sauce"/>
                <a:ea typeface="Open Sauce"/>
                <a:cs typeface="Open Sauce"/>
                <a:sym typeface="Open Sauce"/>
              </a:rPr>
              <a:t>Translates complex facts into easily understandable, actionable insights through:</a:t>
            </a:r>
          </a:p>
          <a:p>
            <a:pPr algn="l">
              <a:lnSpc>
                <a:spcPts val="899"/>
              </a:lnSpc>
            </a:pPr>
            <a:endParaRPr lang="en-US" sz="3500" spc="-245">
              <a:solidFill>
                <a:srgbClr val="424242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755651" lvl="1" indent="-377825" algn="l">
              <a:lnSpc>
                <a:spcPts val="3150"/>
              </a:lnSpc>
              <a:buFont typeface="Arial"/>
              <a:buChar char="•"/>
            </a:pPr>
            <a:r>
              <a:rPr lang="en-US" sz="3500" spc="-245">
                <a:solidFill>
                  <a:srgbClr val="424242"/>
                </a:solidFill>
                <a:latin typeface="Open Sauce"/>
                <a:ea typeface="Open Sauce"/>
                <a:cs typeface="Open Sauce"/>
                <a:sym typeface="Open Sauce"/>
              </a:rPr>
              <a:t>Charts and graphs</a:t>
            </a:r>
          </a:p>
          <a:p>
            <a:pPr algn="l">
              <a:lnSpc>
                <a:spcPts val="899"/>
              </a:lnSpc>
            </a:pPr>
            <a:endParaRPr lang="en-US" sz="3500" spc="-245">
              <a:solidFill>
                <a:srgbClr val="424242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755651" lvl="1" indent="-377825" algn="l">
              <a:lnSpc>
                <a:spcPts val="3150"/>
              </a:lnSpc>
              <a:buFont typeface="Arial"/>
              <a:buChar char="•"/>
            </a:pPr>
            <a:r>
              <a:rPr lang="en-US" sz="3500" spc="-245">
                <a:solidFill>
                  <a:srgbClr val="424242"/>
                </a:solidFill>
                <a:latin typeface="Open Sauce"/>
                <a:ea typeface="Open Sauce"/>
                <a:cs typeface="Open Sauce"/>
                <a:sym typeface="Open Sauce"/>
              </a:rPr>
              <a:t>Dashboards</a:t>
            </a:r>
          </a:p>
          <a:p>
            <a:pPr algn="l">
              <a:lnSpc>
                <a:spcPts val="899"/>
              </a:lnSpc>
            </a:pPr>
            <a:endParaRPr lang="en-US" sz="3500" spc="-245">
              <a:solidFill>
                <a:srgbClr val="424242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755651" lvl="1" indent="-377825" algn="l">
              <a:lnSpc>
                <a:spcPts val="3150"/>
              </a:lnSpc>
              <a:buFont typeface="Arial"/>
              <a:buChar char="•"/>
            </a:pPr>
            <a:r>
              <a:rPr lang="en-US" sz="3500" spc="-245">
                <a:solidFill>
                  <a:srgbClr val="424242"/>
                </a:solidFill>
                <a:latin typeface="Open Sauce"/>
                <a:ea typeface="Open Sauce"/>
                <a:cs typeface="Open Sauce"/>
                <a:sym typeface="Open Sauce"/>
              </a:rPr>
              <a:t>Interactive visualizations</a:t>
            </a:r>
          </a:p>
          <a:p>
            <a:pPr algn="l">
              <a:lnSpc>
                <a:spcPts val="3150"/>
              </a:lnSpc>
            </a:pPr>
            <a:endParaRPr lang="en-US" sz="3500" spc="-245">
              <a:solidFill>
                <a:srgbClr val="424242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466692" y="6047252"/>
            <a:ext cx="14649345" cy="2343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3500" b="1" spc="-245">
                <a:solidFill>
                  <a:srgbClr val="42424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Benefits of Visualization:</a:t>
            </a:r>
          </a:p>
          <a:p>
            <a:pPr algn="l">
              <a:lnSpc>
                <a:spcPts val="899"/>
              </a:lnSpc>
            </a:pPr>
            <a:endParaRPr lang="en-US" sz="3500" b="1" spc="-245">
              <a:solidFill>
                <a:srgbClr val="424242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marL="755651" lvl="1" indent="-377825" algn="l">
              <a:lnSpc>
                <a:spcPts val="3150"/>
              </a:lnSpc>
              <a:buFont typeface="Arial"/>
              <a:buChar char="•"/>
            </a:pPr>
            <a:r>
              <a:rPr lang="en-US" sz="3500" spc="-245">
                <a:solidFill>
                  <a:srgbClr val="424242"/>
                </a:solidFill>
                <a:latin typeface="Open Sauce"/>
                <a:ea typeface="Open Sauce"/>
                <a:cs typeface="Open Sauce"/>
                <a:sym typeface="Open Sauce"/>
              </a:rPr>
              <a:t>Transcends language barriers and specialized knowledge</a:t>
            </a:r>
          </a:p>
          <a:p>
            <a:pPr algn="l">
              <a:lnSpc>
                <a:spcPts val="899"/>
              </a:lnSpc>
            </a:pPr>
            <a:endParaRPr lang="en-US" sz="3500" spc="-245">
              <a:solidFill>
                <a:srgbClr val="424242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755651" lvl="1" indent="-377825" algn="l">
              <a:lnSpc>
                <a:spcPts val="3150"/>
              </a:lnSpc>
              <a:buFont typeface="Arial"/>
              <a:buChar char="•"/>
            </a:pPr>
            <a:r>
              <a:rPr lang="en-US" sz="3500" spc="-245">
                <a:solidFill>
                  <a:srgbClr val="424242"/>
                </a:solidFill>
                <a:latin typeface="Open Sauce"/>
                <a:ea typeface="Open Sauce"/>
                <a:cs typeface="Open Sauce"/>
                <a:sym typeface="Open Sauce"/>
              </a:rPr>
              <a:t>Enables stakeholders to spot trends and detect patterns quickly</a:t>
            </a:r>
          </a:p>
          <a:p>
            <a:pPr algn="l">
              <a:lnSpc>
                <a:spcPts val="899"/>
              </a:lnSpc>
            </a:pPr>
            <a:endParaRPr lang="en-US" sz="3500" spc="-245">
              <a:solidFill>
                <a:srgbClr val="424242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755651" lvl="1" indent="-377825" algn="l">
              <a:lnSpc>
                <a:spcPts val="3150"/>
              </a:lnSpc>
              <a:buFont typeface="Arial"/>
              <a:buChar char="•"/>
            </a:pPr>
            <a:r>
              <a:rPr lang="en-US" sz="3500" spc="-245">
                <a:solidFill>
                  <a:srgbClr val="424242"/>
                </a:solidFill>
                <a:latin typeface="Open Sauce"/>
                <a:ea typeface="Open Sauce"/>
                <a:cs typeface="Open Sauce"/>
                <a:sym typeface="Open Sauce"/>
              </a:rPr>
              <a:t>Improves decision-making and fosters data-driven culture</a:t>
            </a:r>
          </a:p>
          <a:p>
            <a:pPr algn="l">
              <a:lnSpc>
                <a:spcPts val="3150"/>
              </a:lnSpc>
            </a:pPr>
            <a:endParaRPr lang="en-US" sz="3500" spc="-245">
              <a:solidFill>
                <a:srgbClr val="424242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H="1" flipV="1">
            <a:off x="990600" y="-142991"/>
            <a:ext cx="0" cy="10572982"/>
          </a:xfrm>
          <a:prstGeom prst="line">
            <a:avLst/>
          </a:prstGeom>
          <a:ln w="76200" cap="flat">
            <a:gradFill>
              <a:gsLst>
                <a:gs pos="0">
                  <a:srgbClr val="424242">
                    <a:alpha val="100000"/>
                  </a:srgbClr>
                </a:gs>
                <a:gs pos="25000">
                  <a:srgbClr val="9B9B9B">
                    <a:alpha val="100000"/>
                  </a:srgbClr>
                </a:gs>
                <a:gs pos="50000">
                  <a:srgbClr val="424242">
                    <a:alpha val="100000"/>
                  </a:srgbClr>
                </a:gs>
                <a:gs pos="75000">
                  <a:srgbClr val="9B9B9B">
                    <a:alpha val="100000"/>
                  </a:srgbClr>
                </a:gs>
                <a:gs pos="100000">
                  <a:srgbClr val="424242">
                    <a:alpha val="100000"/>
                  </a:srgbClr>
                </a:gs>
              </a:gsLst>
              <a:lin ang="270000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247696" y="5143500"/>
            <a:ext cx="5012800" cy="3882759"/>
            <a:chOff x="0" y="0"/>
            <a:chExt cx="1256638" cy="97335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56638" cy="973353"/>
            </a:xfrm>
            <a:custGeom>
              <a:avLst/>
              <a:gdLst/>
              <a:ahLst/>
              <a:cxnLst/>
              <a:rect l="l" t="t" r="r" b="b"/>
              <a:pathLst>
                <a:path w="1256638" h="973353">
                  <a:moveTo>
                    <a:pt x="0" y="0"/>
                  </a:moveTo>
                  <a:lnTo>
                    <a:pt x="1256638" y="0"/>
                  </a:lnTo>
                  <a:lnTo>
                    <a:pt x="1256638" y="973353"/>
                  </a:lnTo>
                  <a:lnTo>
                    <a:pt x="0" y="97335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424242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256638" cy="10209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637600" y="5143500"/>
            <a:ext cx="5012800" cy="3882759"/>
            <a:chOff x="0" y="0"/>
            <a:chExt cx="1256638" cy="97335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56638" cy="973353"/>
            </a:xfrm>
            <a:custGeom>
              <a:avLst/>
              <a:gdLst/>
              <a:ahLst/>
              <a:cxnLst/>
              <a:rect l="l" t="t" r="r" b="b"/>
              <a:pathLst>
                <a:path w="1256638" h="973353">
                  <a:moveTo>
                    <a:pt x="0" y="0"/>
                  </a:moveTo>
                  <a:lnTo>
                    <a:pt x="1256638" y="0"/>
                  </a:lnTo>
                  <a:lnTo>
                    <a:pt x="1256638" y="973353"/>
                  </a:lnTo>
                  <a:lnTo>
                    <a:pt x="0" y="97335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424242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256638" cy="10209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2027504" y="5143500"/>
            <a:ext cx="5012800" cy="3882759"/>
            <a:chOff x="0" y="0"/>
            <a:chExt cx="1256638" cy="97335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56638" cy="973353"/>
            </a:xfrm>
            <a:custGeom>
              <a:avLst/>
              <a:gdLst/>
              <a:ahLst/>
              <a:cxnLst/>
              <a:rect l="l" t="t" r="r" b="b"/>
              <a:pathLst>
                <a:path w="1256638" h="973353">
                  <a:moveTo>
                    <a:pt x="0" y="0"/>
                  </a:moveTo>
                  <a:lnTo>
                    <a:pt x="1256638" y="0"/>
                  </a:lnTo>
                  <a:lnTo>
                    <a:pt x="1256638" y="973353"/>
                  </a:lnTo>
                  <a:lnTo>
                    <a:pt x="0" y="97335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424242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1256638" cy="10209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664188" y="5531334"/>
            <a:ext cx="4179817" cy="622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999"/>
              </a:lnSpc>
              <a:spcBef>
                <a:spcPct val="0"/>
              </a:spcBef>
            </a:pPr>
            <a:r>
              <a:rPr lang="en-US" sz="3999" b="1" spc="-119">
                <a:solidFill>
                  <a:srgbClr val="42424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</a:t>
            </a:r>
            <a:r>
              <a:rPr lang="en-US" sz="3999" b="1" u="none" strike="noStrike" spc="-119">
                <a:solidFill>
                  <a:srgbClr val="42424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pache Kafka</a:t>
            </a:r>
          </a:p>
        </p:txBody>
      </p:sp>
      <p:sp>
        <p:nvSpPr>
          <p:cNvPr id="13" name="AutoShape 13"/>
          <p:cNvSpPr/>
          <p:nvPr/>
        </p:nvSpPr>
        <p:spPr>
          <a:xfrm>
            <a:off x="1466692" y="2835759"/>
            <a:ext cx="12669312" cy="0"/>
          </a:xfrm>
          <a:prstGeom prst="line">
            <a:avLst/>
          </a:prstGeom>
          <a:ln w="19050" cap="flat">
            <a:solidFill>
              <a:srgbClr val="42424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7054092" y="5531334"/>
            <a:ext cx="4179817" cy="622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999"/>
              </a:lnSpc>
              <a:spcBef>
                <a:spcPct val="0"/>
              </a:spcBef>
            </a:pPr>
            <a:r>
              <a:rPr lang="en-US" sz="3999" b="1" spc="-119">
                <a:solidFill>
                  <a:srgbClr val="42424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</a:t>
            </a:r>
            <a:r>
              <a:rPr lang="en-US" sz="3999" b="1" u="none" strike="noStrike" spc="-119">
                <a:solidFill>
                  <a:srgbClr val="42424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pache Storm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443996" y="5531334"/>
            <a:ext cx="4179817" cy="622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999"/>
              </a:lnSpc>
              <a:spcBef>
                <a:spcPct val="0"/>
              </a:spcBef>
            </a:pPr>
            <a:r>
              <a:rPr lang="en-US" sz="3999" b="1" spc="-119">
                <a:solidFill>
                  <a:srgbClr val="42424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</a:t>
            </a:r>
            <a:r>
              <a:rPr lang="en-US" sz="3999" b="1" u="none" strike="noStrike" spc="-119">
                <a:solidFill>
                  <a:srgbClr val="42424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pache Flink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47696" y="6667985"/>
            <a:ext cx="5012800" cy="122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lang="en-US" sz="3500" spc="-245">
                <a:solidFill>
                  <a:srgbClr val="424242"/>
                </a:solidFill>
                <a:latin typeface="Open Sauce"/>
                <a:ea typeface="Open Sauce"/>
                <a:cs typeface="Open Sauce"/>
                <a:sym typeface="Open Sauce"/>
              </a:rPr>
              <a:t>Messaging system that transports data streams between systems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637600" y="6687035"/>
            <a:ext cx="5012800" cy="122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lang="en-US" sz="3500" spc="-245">
                <a:solidFill>
                  <a:srgbClr val="424242"/>
                </a:solidFill>
                <a:latin typeface="Open Sauce"/>
                <a:ea typeface="Open Sauce"/>
                <a:cs typeface="Open Sauce"/>
                <a:sym typeface="Open Sauce"/>
              </a:rPr>
              <a:t>High-speed engine for processing continuous data streams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031400" y="6687035"/>
            <a:ext cx="5008904" cy="162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lang="en-US" sz="3500" spc="-245">
                <a:solidFill>
                  <a:srgbClr val="424242"/>
                </a:solidFill>
                <a:latin typeface="Open Sauce"/>
                <a:ea typeface="Open Sauce"/>
                <a:cs typeface="Open Sauce"/>
                <a:sym typeface="Open Sauce"/>
              </a:rPr>
              <a:t>Advanced stream processor with sophisticated time-based operations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466692" y="1276350"/>
            <a:ext cx="16623890" cy="1123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00"/>
              </a:lnSpc>
            </a:pPr>
            <a:r>
              <a:rPr lang="en-US" sz="9000" b="1" spc="-630">
                <a:solidFill>
                  <a:srgbClr val="42424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2.4. Real-Time Data Processing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466692" y="3359634"/>
            <a:ext cx="14649345" cy="1733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3500" b="1" spc="-245">
                <a:solidFill>
                  <a:srgbClr val="42424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What is Real-Time Processing?</a:t>
            </a:r>
          </a:p>
          <a:p>
            <a:pPr algn="l">
              <a:lnSpc>
                <a:spcPts val="899"/>
              </a:lnSpc>
            </a:pPr>
            <a:endParaRPr lang="en-US" sz="3500" b="1" spc="-245">
              <a:solidFill>
                <a:srgbClr val="424242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algn="l">
              <a:lnSpc>
                <a:spcPts val="3150"/>
              </a:lnSpc>
            </a:pPr>
            <a:r>
              <a:rPr lang="en-US" sz="3500" spc="-245">
                <a:solidFill>
                  <a:srgbClr val="424242"/>
                </a:solidFill>
                <a:latin typeface="Open Sauce"/>
                <a:ea typeface="Open Sauce"/>
                <a:cs typeface="Open Sauce"/>
                <a:sym typeface="Open Sauce"/>
              </a:rPr>
              <a:t>To analyze and respond to data as it arrives, enabling instant insights and actions based on current information.</a:t>
            </a:r>
          </a:p>
          <a:p>
            <a:pPr algn="l">
              <a:lnSpc>
                <a:spcPts val="3150"/>
              </a:lnSpc>
            </a:pPr>
            <a:endParaRPr lang="en-US" sz="3500" spc="-245">
              <a:solidFill>
                <a:srgbClr val="424242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H="1" flipV="1">
            <a:off x="990600" y="-142991"/>
            <a:ext cx="0" cy="10572982"/>
          </a:xfrm>
          <a:prstGeom prst="line">
            <a:avLst/>
          </a:prstGeom>
          <a:ln w="76200" cap="flat">
            <a:gradFill>
              <a:gsLst>
                <a:gs pos="0">
                  <a:srgbClr val="424242">
                    <a:alpha val="100000"/>
                  </a:srgbClr>
                </a:gs>
                <a:gs pos="25000">
                  <a:srgbClr val="9B9B9B">
                    <a:alpha val="100000"/>
                  </a:srgbClr>
                </a:gs>
                <a:gs pos="50000">
                  <a:srgbClr val="424242">
                    <a:alpha val="100000"/>
                  </a:srgbClr>
                </a:gs>
                <a:gs pos="75000">
                  <a:srgbClr val="9B9B9B">
                    <a:alpha val="100000"/>
                  </a:srgbClr>
                </a:gs>
                <a:gs pos="100000">
                  <a:srgbClr val="424242">
                    <a:alpha val="100000"/>
                  </a:srgbClr>
                </a:gs>
              </a:gsLst>
              <a:lin ang="270000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1466692" y="2835759"/>
            <a:ext cx="12669312" cy="0"/>
          </a:xfrm>
          <a:prstGeom prst="line">
            <a:avLst/>
          </a:prstGeom>
          <a:ln w="19050" cap="flat">
            <a:solidFill>
              <a:srgbClr val="42424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466692" y="1276350"/>
            <a:ext cx="16623890" cy="3181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00"/>
              </a:lnSpc>
            </a:pPr>
            <a:r>
              <a:rPr lang="en-US" sz="9000" b="1" spc="-630">
                <a:solidFill>
                  <a:srgbClr val="42424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2.5. Quality and Preprocessing</a:t>
            </a:r>
          </a:p>
          <a:p>
            <a:pPr algn="l">
              <a:lnSpc>
                <a:spcPts val="8100"/>
              </a:lnSpc>
            </a:pPr>
            <a:endParaRPr lang="en-US" sz="9000" b="1" spc="-630">
              <a:solidFill>
                <a:srgbClr val="424242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algn="l">
              <a:lnSpc>
                <a:spcPts val="8100"/>
              </a:lnSpc>
            </a:pPr>
            <a:endParaRPr lang="en-US" sz="9000" b="1" spc="-630">
              <a:solidFill>
                <a:srgbClr val="424242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466692" y="3359634"/>
            <a:ext cx="14649345" cy="7143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3500" b="1" spc="-245">
                <a:solidFill>
                  <a:srgbClr val="42424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Why Data Quality Matters?</a:t>
            </a:r>
          </a:p>
          <a:p>
            <a:pPr algn="l">
              <a:lnSpc>
                <a:spcPts val="899"/>
              </a:lnSpc>
            </a:pPr>
            <a:endParaRPr lang="en-US" sz="3500" b="1" spc="-245">
              <a:solidFill>
                <a:srgbClr val="424242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algn="l">
              <a:lnSpc>
                <a:spcPts val="3150"/>
              </a:lnSpc>
            </a:pPr>
            <a:r>
              <a:rPr lang="en-US" sz="3500" spc="-245">
                <a:solidFill>
                  <a:srgbClr val="424242"/>
                </a:solidFill>
                <a:latin typeface="Open Sauce"/>
                <a:ea typeface="Open Sauce"/>
                <a:cs typeface="Open Sauce"/>
                <a:sym typeface="Open Sauce"/>
              </a:rPr>
              <a:t>Data quality is crucial for ensuring trustworthiness, accuracy, and relevance of analytical findings.</a:t>
            </a:r>
          </a:p>
          <a:p>
            <a:pPr algn="l">
              <a:lnSpc>
                <a:spcPts val="899"/>
              </a:lnSpc>
            </a:pPr>
            <a:endParaRPr lang="en-US" sz="3500" spc="-245">
              <a:solidFill>
                <a:srgbClr val="424242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755651" lvl="1" indent="-377825" algn="l">
              <a:lnSpc>
                <a:spcPts val="3150"/>
              </a:lnSpc>
              <a:buFont typeface="Arial"/>
              <a:buChar char="•"/>
            </a:pPr>
            <a:r>
              <a:rPr lang="en-US" sz="3500" spc="-245">
                <a:solidFill>
                  <a:srgbClr val="424242"/>
                </a:solidFill>
                <a:latin typeface="Open Sauce"/>
                <a:ea typeface="Open Sauce"/>
                <a:cs typeface="Open Sauce"/>
                <a:sym typeface="Open Sauce"/>
              </a:rPr>
              <a:t>Correctness</a:t>
            </a:r>
          </a:p>
          <a:p>
            <a:pPr marL="755651" lvl="1" indent="-377825" algn="l">
              <a:lnSpc>
                <a:spcPts val="3150"/>
              </a:lnSpc>
              <a:buFont typeface="Arial"/>
              <a:buChar char="•"/>
            </a:pPr>
            <a:r>
              <a:rPr lang="en-US" sz="3500" spc="-245">
                <a:solidFill>
                  <a:srgbClr val="424242"/>
                </a:solidFill>
                <a:latin typeface="Open Sauce"/>
                <a:ea typeface="Open Sauce"/>
                <a:cs typeface="Open Sauce"/>
                <a:sym typeface="Open Sauce"/>
              </a:rPr>
              <a:t>Completeness</a:t>
            </a:r>
          </a:p>
          <a:p>
            <a:pPr marL="755651" lvl="1" indent="-377825" algn="l">
              <a:lnSpc>
                <a:spcPts val="3150"/>
              </a:lnSpc>
              <a:buFont typeface="Arial"/>
              <a:buChar char="•"/>
            </a:pPr>
            <a:r>
              <a:rPr lang="en-US" sz="3500" spc="-245">
                <a:solidFill>
                  <a:srgbClr val="424242"/>
                </a:solidFill>
                <a:latin typeface="Open Sauce"/>
                <a:ea typeface="Open Sauce"/>
                <a:cs typeface="Open Sauce"/>
                <a:sym typeface="Open Sauce"/>
              </a:rPr>
              <a:t>Consistency</a:t>
            </a:r>
          </a:p>
          <a:p>
            <a:pPr marL="755651" lvl="1" indent="-377825" algn="l">
              <a:lnSpc>
                <a:spcPts val="3150"/>
              </a:lnSpc>
              <a:buFont typeface="Arial"/>
              <a:buChar char="•"/>
            </a:pPr>
            <a:r>
              <a:rPr lang="en-US" sz="3500" spc="-245">
                <a:solidFill>
                  <a:srgbClr val="424242"/>
                </a:solidFill>
                <a:latin typeface="Open Sauce"/>
                <a:ea typeface="Open Sauce"/>
                <a:cs typeface="Open Sauce"/>
                <a:sym typeface="Open Sauce"/>
              </a:rPr>
              <a:t>Timeliness</a:t>
            </a:r>
          </a:p>
          <a:p>
            <a:pPr marL="755651" lvl="1" indent="-377825" algn="l">
              <a:lnSpc>
                <a:spcPts val="3150"/>
              </a:lnSpc>
              <a:buFont typeface="Arial"/>
              <a:buChar char="•"/>
            </a:pPr>
            <a:r>
              <a:rPr lang="en-US" sz="3500" spc="-245">
                <a:solidFill>
                  <a:srgbClr val="424242"/>
                </a:solidFill>
                <a:latin typeface="Open Sauce"/>
                <a:ea typeface="Open Sauce"/>
                <a:cs typeface="Open Sauce"/>
                <a:sym typeface="Open Sauce"/>
              </a:rPr>
              <a:t>Significance</a:t>
            </a:r>
          </a:p>
          <a:p>
            <a:pPr algn="l">
              <a:lnSpc>
                <a:spcPts val="899"/>
              </a:lnSpc>
            </a:pPr>
            <a:endParaRPr lang="en-US" sz="3500" spc="-245">
              <a:solidFill>
                <a:srgbClr val="424242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algn="l">
              <a:lnSpc>
                <a:spcPts val="3150"/>
              </a:lnSpc>
            </a:pPr>
            <a:r>
              <a:rPr lang="en-US" sz="3500" b="1" spc="-245">
                <a:solidFill>
                  <a:srgbClr val="42424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Consequences of Poor Data Quality:</a:t>
            </a:r>
          </a:p>
          <a:p>
            <a:pPr marL="755651" lvl="1" indent="-377825" algn="l">
              <a:lnSpc>
                <a:spcPts val="3150"/>
              </a:lnSpc>
              <a:buFont typeface="Arial"/>
              <a:buChar char="•"/>
            </a:pPr>
            <a:r>
              <a:rPr lang="en-US" sz="3500" spc="-245">
                <a:solidFill>
                  <a:srgbClr val="424242"/>
                </a:solidFill>
                <a:latin typeface="Open Sauce"/>
                <a:ea typeface="Open Sauce"/>
                <a:cs typeface="Open Sauce"/>
                <a:sym typeface="Open Sauce"/>
              </a:rPr>
              <a:t>Incorrect findings</a:t>
            </a:r>
          </a:p>
          <a:p>
            <a:pPr marL="755651" lvl="1" indent="-377825" algn="l">
              <a:lnSpc>
                <a:spcPts val="3150"/>
              </a:lnSpc>
              <a:buFont typeface="Arial"/>
              <a:buChar char="•"/>
            </a:pPr>
            <a:r>
              <a:rPr lang="en-US" sz="3500" spc="-245">
                <a:solidFill>
                  <a:srgbClr val="424242"/>
                </a:solidFill>
                <a:latin typeface="Open Sauce"/>
                <a:ea typeface="Open Sauce"/>
                <a:cs typeface="Open Sauce"/>
                <a:sym typeface="Open Sauce"/>
              </a:rPr>
              <a:t>Poorly considered actions</a:t>
            </a:r>
          </a:p>
          <a:p>
            <a:pPr marL="755651" lvl="1" indent="-377825" algn="l">
              <a:lnSpc>
                <a:spcPts val="3150"/>
              </a:lnSpc>
              <a:buFont typeface="Arial"/>
              <a:buChar char="•"/>
            </a:pPr>
            <a:r>
              <a:rPr lang="en-US" sz="3500" spc="-245">
                <a:solidFill>
                  <a:srgbClr val="424242"/>
                </a:solidFill>
                <a:latin typeface="Open Sauce"/>
                <a:ea typeface="Open Sauce"/>
                <a:cs typeface="Open Sauce"/>
                <a:sym typeface="Open Sauce"/>
              </a:rPr>
              <a:t>Lost opportunities</a:t>
            </a:r>
          </a:p>
          <a:p>
            <a:pPr marL="755651" lvl="1" indent="-377825" algn="l">
              <a:lnSpc>
                <a:spcPts val="3150"/>
              </a:lnSpc>
              <a:buFont typeface="Arial"/>
              <a:buChar char="•"/>
            </a:pPr>
            <a:r>
              <a:rPr lang="en-US" sz="3500" spc="-245">
                <a:solidFill>
                  <a:srgbClr val="424242"/>
                </a:solidFill>
                <a:latin typeface="Open Sauce"/>
                <a:ea typeface="Open Sauce"/>
                <a:cs typeface="Open Sauce"/>
                <a:sym typeface="Open Sauce"/>
              </a:rPr>
              <a:t>Biased insights</a:t>
            </a:r>
          </a:p>
          <a:p>
            <a:pPr marL="755651" lvl="1" indent="-377825" algn="l">
              <a:lnSpc>
                <a:spcPts val="3150"/>
              </a:lnSpc>
              <a:buFont typeface="Arial"/>
              <a:buChar char="•"/>
            </a:pPr>
            <a:r>
              <a:rPr lang="en-US" sz="3500" spc="-245">
                <a:solidFill>
                  <a:srgbClr val="424242"/>
                </a:solidFill>
                <a:latin typeface="Open Sauce"/>
                <a:ea typeface="Open Sauce"/>
                <a:cs typeface="Open Sauce"/>
                <a:sym typeface="Open Sauce"/>
              </a:rPr>
              <a:t>Faulty models</a:t>
            </a:r>
          </a:p>
          <a:p>
            <a:pPr marL="755651" lvl="1" indent="-377825" algn="l">
              <a:lnSpc>
                <a:spcPts val="3150"/>
              </a:lnSpc>
              <a:buFont typeface="Arial"/>
              <a:buChar char="•"/>
            </a:pPr>
            <a:r>
              <a:rPr lang="en-US" sz="3500" spc="-245">
                <a:solidFill>
                  <a:srgbClr val="424242"/>
                </a:solidFill>
                <a:latin typeface="Open Sauce"/>
                <a:ea typeface="Open Sauce"/>
                <a:cs typeface="Open Sauce"/>
                <a:sym typeface="Open Sauce"/>
              </a:rPr>
              <a:t>Operational inefficiencies</a:t>
            </a:r>
          </a:p>
          <a:p>
            <a:pPr algn="l">
              <a:lnSpc>
                <a:spcPts val="3150"/>
              </a:lnSpc>
            </a:pPr>
            <a:endParaRPr lang="en-US" sz="3500" spc="-245">
              <a:solidFill>
                <a:srgbClr val="424242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algn="l">
              <a:lnSpc>
                <a:spcPts val="3150"/>
              </a:lnSpc>
            </a:pPr>
            <a:endParaRPr lang="en-US" sz="3500" spc="-245">
              <a:solidFill>
                <a:srgbClr val="424242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H="1" flipV="1">
            <a:off x="990600" y="-142991"/>
            <a:ext cx="0" cy="10572982"/>
          </a:xfrm>
          <a:prstGeom prst="line">
            <a:avLst/>
          </a:prstGeom>
          <a:ln w="76200" cap="flat">
            <a:gradFill>
              <a:gsLst>
                <a:gs pos="0">
                  <a:srgbClr val="424242">
                    <a:alpha val="100000"/>
                  </a:srgbClr>
                </a:gs>
                <a:gs pos="25000">
                  <a:srgbClr val="9B9B9B">
                    <a:alpha val="100000"/>
                  </a:srgbClr>
                </a:gs>
                <a:gs pos="50000">
                  <a:srgbClr val="424242">
                    <a:alpha val="100000"/>
                  </a:srgbClr>
                </a:gs>
                <a:gs pos="75000">
                  <a:srgbClr val="9B9B9B">
                    <a:alpha val="100000"/>
                  </a:srgbClr>
                </a:gs>
                <a:gs pos="100000">
                  <a:srgbClr val="424242">
                    <a:alpha val="100000"/>
                  </a:srgbClr>
                </a:gs>
              </a:gsLst>
              <a:lin ang="270000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1466692" y="2835759"/>
            <a:ext cx="12669312" cy="0"/>
          </a:xfrm>
          <a:prstGeom prst="line">
            <a:avLst/>
          </a:prstGeom>
          <a:ln w="19050" cap="flat">
            <a:solidFill>
              <a:srgbClr val="42424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466692" y="1276350"/>
            <a:ext cx="16623890" cy="3181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00"/>
              </a:lnSpc>
            </a:pPr>
            <a:r>
              <a:rPr lang="en-US" sz="9000" b="1" spc="-630">
                <a:solidFill>
                  <a:srgbClr val="42424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2.5. Quality and Preprocessing</a:t>
            </a:r>
          </a:p>
          <a:p>
            <a:pPr algn="l">
              <a:lnSpc>
                <a:spcPts val="8100"/>
              </a:lnSpc>
            </a:pPr>
            <a:endParaRPr lang="en-US" sz="9000" b="1" spc="-630">
              <a:solidFill>
                <a:srgbClr val="424242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algn="l">
              <a:lnSpc>
                <a:spcPts val="8100"/>
              </a:lnSpc>
            </a:pPr>
            <a:endParaRPr lang="en-US" sz="9000" b="1" spc="-630">
              <a:solidFill>
                <a:srgbClr val="424242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466692" y="3359634"/>
            <a:ext cx="16185102" cy="6438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3500" b="1" spc="-245" dirty="0">
                <a:solidFill>
                  <a:srgbClr val="42424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Data Preprocessing:</a:t>
            </a:r>
          </a:p>
          <a:p>
            <a:pPr algn="l">
              <a:lnSpc>
                <a:spcPts val="899"/>
              </a:lnSpc>
            </a:pPr>
            <a:endParaRPr lang="en-US" sz="3500" b="1" spc="-245" dirty="0">
              <a:solidFill>
                <a:srgbClr val="424242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algn="l">
              <a:lnSpc>
                <a:spcPts val="3150"/>
              </a:lnSpc>
            </a:pPr>
            <a:r>
              <a:rPr lang="en-US" sz="3500" spc="-245" dirty="0">
                <a:solidFill>
                  <a:srgbClr val="424242"/>
                </a:solidFill>
                <a:latin typeface="Open Sauce"/>
                <a:ea typeface="Open Sauce"/>
                <a:cs typeface="Open Sauce"/>
                <a:sym typeface="Open Sauce"/>
              </a:rPr>
              <a:t>Collection of methodologies to enhance usefulness, quality, and relevance of raw data.</a:t>
            </a:r>
          </a:p>
          <a:p>
            <a:pPr algn="l">
              <a:lnSpc>
                <a:spcPts val="899"/>
              </a:lnSpc>
            </a:pPr>
            <a:endParaRPr lang="en-US" sz="3500" spc="-245" dirty="0">
              <a:solidFill>
                <a:srgbClr val="424242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algn="l">
              <a:lnSpc>
                <a:spcPts val="899"/>
              </a:lnSpc>
            </a:pPr>
            <a:endParaRPr lang="en-US" sz="3500" spc="-245" dirty="0">
              <a:solidFill>
                <a:srgbClr val="424242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377826" lvl="1" algn="l">
              <a:lnSpc>
                <a:spcPts val="3150"/>
              </a:lnSpc>
            </a:pPr>
            <a:r>
              <a:rPr lang="en-US" sz="3500" spc="-245" dirty="0">
                <a:solidFill>
                  <a:srgbClr val="424242"/>
                </a:solidFill>
                <a:latin typeface="Open Sauce"/>
                <a:ea typeface="Open Sauce"/>
                <a:cs typeface="Open Sauce"/>
                <a:sym typeface="Open Sauce"/>
              </a:rPr>
              <a:t>1. Data Cleaning:</a:t>
            </a:r>
          </a:p>
          <a:p>
            <a:pPr marL="1511301" lvl="2" indent="-503767" algn="l">
              <a:lnSpc>
                <a:spcPts val="3150"/>
              </a:lnSpc>
              <a:buFont typeface="Arial"/>
              <a:buChar char="⚬"/>
            </a:pPr>
            <a:r>
              <a:rPr lang="en-US" sz="3500" spc="-245" dirty="0">
                <a:solidFill>
                  <a:srgbClr val="424242"/>
                </a:solidFill>
                <a:latin typeface="Open Sauce"/>
                <a:ea typeface="Open Sauce"/>
                <a:cs typeface="Open Sauce"/>
                <a:sym typeface="Open Sauce"/>
              </a:rPr>
              <a:t>Identifies and corrects errors, inconsistencies, and anomalies</a:t>
            </a:r>
          </a:p>
          <a:p>
            <a:pPr marL="1511301" lvl="2" indent="-503767" algn="l">
              <a:lnSpc>
                <a:spcPts val="3150"/>
              </a:lnSpc>
              <a:buFont typeface="Arial"/>
              <a:buChar char="⚬"/>
            </a:pPr>
            <a:r>
              <a:rPr lang="en-US" sz="3500" spc="-245" dirty="0">
                <a:solidFill>
                  <a:srgbClr val="424242"/>
                </a:solidFill>
                <a:latin typeface="Open Sauce"/>
                <a:ea typeface="Open Sauce"/>
                <a:cs typeface="Open Sauce"/>
                <a:sym typeface="Open Sauce"/>
              </a:rPr>
              <a:t>Eliminates duplicate entries</a:t>
            </a:r>
          </a:p>
          <a:p>
            <a:pPr algn="l">
              <a:lnSpc>
                <a:spcPts val="899"/>
              </a:lnSpc>
            </a:pPr>
            <a:endParaRPr lang="en-US" sz="3500" spc="-245" dirty="0">
              <a:solidFill>
                <a:srgbClr val="424242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377826" lvl="1" algn="l">
              <a:lnSpc>
                <a:spcPts val="3150"/>
              </a:lnSpc>
            </a:pPr>
            <a:r>
              <a:rPr lang="en-US" sz="3500" spc="-245" dirty="0">
                <a:solidFill>
                  <a:srgbClr val="424242"/>
                </a:solidFill>
                <a:latin typeface="Open Sauce"/>
                <a:ea typeface="Open Sauce"/>
                <a:cs typeface="Open Sauce"/>
                <a:sym typeface="Open Sauce"/>
              </a:rPr>
              <a:t>2. Data Normalization:</a:t>
            </a:r>
          </a:p>
          <a:p>
            <a:pPr marL="1511301" lvl="2" indent="-503767" algn="l">
              <a:lnSpc>
                <a:spcPts val="3150"/>
              </a:lnSpc>
              <a:buFont typeface="Arial"/>
              <a:buChar char="⚬"/>
            </a:pPr>
            <a:r>
              <a:rPr lang="en-US" sz="3500" spc="-245" dirty="0">
                <a:solidFill>
                  <a:srgbClr val="424242"/>
                </a:solidFill>
                <a:latin typeface="Open Sauce"/>
                <a:ea typeface="Open Sauce"/>
                <a:cs typeface="Open Sauce"/>
                <a:sym typeface="Open Sauce"/>
              </a:rPr>
              <a:t>Converts data into standard format or scale</a:t>
            </a:r>
          </a:p>
          <a:p>
            <a:pPr marL="1511301" lvl="2" indent="-503767" algn="l">
              <a:lnSpc>
                <a:spcPts val="3150"/>
              </a:lnSpc>
              <a:buFont typeface="Arial"/>
              <a:buChar char="⚬"/>
            </a:pPr>
            <a:r>
              <a:rPr lang="en-US" sz="3500" spc="-245" dirty="0">
                <a:solidFill>
                  <a:srgbClr val="424242"/>
                </a:solidFill>
                <a:latin typeface="Open Sauce"/>
                <a:ea typeface="Open Sauce"/>
                <a:cs typeface="Open Sauce"/>
                <a:sym typeface="Open Sauce"/>
              </a:rPr>
              <a:t>Facilitates meaningful comparisons</a:t>
            </a:r>
          </a:p>
          <a:p>
            <a:pPr algn="l">
              <a:lnSpc>
                <a:spcPts val="899"/>
              </a:lnSpc>
            </a:pPr>
            <a:endParaRPr lang="en-US" sz="3500" spc="-245" dirty="0">
              <a:solidFill>
                <a:srgbClr val="424242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377826" lvl="1" algn="l">
              <a:lnSpc>
                <a:spcPts val="3150"/>
              </a:lnSpc>
            </a:pPr>
            <a:r>
              <a:rPr lang="en-US" sz="3500" spc="-245" dirty="0">
                <a:solidFill>
                  <a:srgbClr val="424242"/>
                </a:solidFill>
                <a:latin typeface="Open Sauce"/>
                <a:ea typeface="Open Sauce"/>
                <a:cs typeface="Open Sauce"/>
                <a:sym typeface="Open Sauce"/>
              </a:rPr>
              <a:t>3. Outlier Detection:</a:t>
            </a:r>
          </a:p>
          <a:p>
            <a:pPr marL="1511301" lvl="2" indent="-503767" algn="l">
              <a:lnSpc>
                <a:spcPts val="3150"/>
              </a:lnSpc>
              <a:buFont typeface="Arial"/>
              <a:buChar char="⚬"/>
            </a:pPr>
            <a:r>
              <a:rPr lang="en-US" sz="3500" spc="-245" dirty="0">
                <a:solidFill>
                  <a:srgbClr val="424242"/>
                </a:solidFill>
                <a:latin typeface="Open Sauce"/>
                <a:ea typeface="Open Sauce"/>
                <a:cs typeface="Open Sauce"/>
                <a:sym typeface="Open Sauce"/>
              </a:rPr>
              <a:t>Locates and removes data points that significantly deviate from expected trends</a:t>
            </a:r>
          </a:p>
          <a:p>
            <a:pPr algn="l">
              <a:lnSpc>
                <a:spcPts val="899"/>
              </a:lnSpc>
            </a:pPr>
            <a:endParaRPr lang="en-US" sz="3500" spc="-245" dirty="0">
              <a:solidFill>
                <a:srgbClr val="424242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377826" lvl="1" algn="l">
              <a:lnSpc>
                <a:spcPts val="3150"/>
              </a:lnSpc>
            </a:pPr>
            <a:r>
              <a:rPr lang="en-US" sz="3500" spc="-245" dirty="0">
                <a:solidFill>
                  <a:srgbClr val="424242"/>
                </a:solidFill>
                <a:latin typeface="Open Sauce"/>
                <a:ea typeface="Open Sauce"/>
                <a:cs typeface="Open Sauce"/>
                <a:sym typeface="Open Sauce"/>
              </a:rPr>
              <a:t>4. Data Quality Assurance:</a:t>
            </a:r>
          </a:p>
          <a:p>
            <a:pPr marL="1511301" lvl="2" indent="-503767" algn="l">
              <a:lnSpc>
                <a:spcPts val="3150"/>
              </a:lnSpc>
              <a:buFont typeface="Arial"/>
              <a:buChar char="⚬"/>
            </a:pPr>
            <a:r>
              <a:rPr lang="en-US" sz="3500" spc="-245" dirty="0">
                <a:solidFill>
                  <a:srgbClr val="424242"/>
                </a:solidFill>
                <a:latin typeface="Open Sauce"/>
                <a:ea typeface="Open Sauce"/>
                <a:cs typeface="Open Sauce"/>
                <a:sym typeface="Open Sauce"/>
              </a:rPr>
              <a:t>Data profiling and validation</a:t>
            </a:r>
          </a:p>
          <a:p>
            <a:pPr algn="l">
              <a:lnSpc>
                <a:spcPts val="3150"/>
              </a:lnSpc>
            </a:pPr>
            <a:endParaRPr lang="en-US" sz="3500" spc="-245" dirty="0">
              <a:solidFill>
                <a:srgbClr val="424242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H="1" flipV="1">
            <a:off x="990600" y="-142991"/>
            <a:ext cx="0" cy="10572982"/>
          </a:xfrm>
          <a:prstGeom prst="line">
            <a:avLst/>
          </a:prstGeom>
          <a:ln w="76200" cap="flat">
            <a:gradFill>
              <a:gsLst>
                <a:gs pos="0">
                  <a:srgbClr val="424242">
                    <a:alpha val="100000"/>
                  </a:srgbClr>
                </a:gs>
                <a:gs pos="25000">
                  <a:srgbClr val="9B9B9B">
                    <a:alpha val="100000"/>
                  </a:srgbClr>
                </a:gs>
                <a:gs pos="50000">
                  <a:srgbClr val="424242">
                    <a:alpha val="100000"/>
                  </a:srgbClr>
                </a:gs>
                <a:gs pos="75000">
                  <a:srgbClr val="9B9B9B">
                    <a:alpha val="100000"/>
                  </a:srgbClr>
                </a:gs>
                <a:gs pos="100000">
                  <a:srgbClr val="424242">
                    <a:alpha val="100000"/>
                  </a:srgbClr>
                </a:gs>
              </a:gsLst>
              <a:lin ang="270000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1466692" y="2835759"/>
            <a:ext cx="12669312" cy="0"/>
          </a:xfrm>
          <a:prstGeom prst="line">
            <a:avLst/>
          </a:prstGeom>
          <a:ln w="19050" cap="flat">
            <a:solidFill>
              <a:srgbClr val="42424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466692" y="1276350"/>
            <a:ext cx="16623890" cy="1123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00"/>
              </a:lnSpc>
            </a:pPr>
            <a:r>
              <a:rPr lang="en-US" sz="9000" b="1" spc="-630">
                <a:solidFill>
                  <a:srgbClr val="42424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2.6. Data Lifecycle Management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466692" y="3359634"/>
            <a:ext cx="16185102" cy="7028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3500" b="1" spc="-245" dirty="0">
                <a:solidFill>
                  <a:srgbClr val="42424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What is DLM?</a:t>
            </a:r>
          </a:p>
          <a:p>
            <a:pPr algn="l">
              <a:lnSpc>
                <a:spcPts val="899"/>
              </a:lnSpc>
            </a:pPr>
            <a:endParaRPr lang="en-US" sz="3500" b="1" spc="-245" dirty="0">
              <a:solidFill>
                <a:srgbClr val="424242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algn="l">
              <a:lnSpc>
                <a:spcPts val="3150"/>
              </a:lnSpc>
            </a:pPr>
            <a:r>
              <a:rPr lang="en-US" sz="3500" spc="-245" dirty="0">
                <a:solidFill>
                  <a:srgbClr val="424242"/>
                </a:solidFill>
                <a:latin typeface="Open Sauce"/>
                <a:ea typeface="Open Sauce"/>
                <a:cs typeface="Open Sauce"/>
                <a:sym typeface="Open Sauce"/>
              </a:rPr>
              <a:t>The processes and procedures for managing data from creation to final disposal.</a:t>
            </a:r>
          </a:p>
          <a:p>
            <a:pPr algn="l">
              <a:lnSpc>
                <a:spcPts val="3150"/>
              </a:lnSpc>
            </a:pPr>
            <a:endParaRPr lang="en-US" sz="3500" spc="-245" dirty="0">
              <a:solidFill>
                <a:srgbClr val="424242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algn="l">
              <a:lnSpc>
                <a:spcPts val="899"/>
              </a:lnSpc>
            </a:pPr>
            <a:endParaRPr lang="en-US" sz="3500" spc="-245" dirty="0">
              <a:solidFill>
                <a:srgbClr val="424242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algn="l">
              <a:lnSpc>
                <a:spcPts val="899"/>
              </a:lnSpc>
            </a:pPr>
            <a:endParaRPr lang="en-US" sz="3500" spc="-245" dirty="0">
              <a:solidFill>
                <a:srgbClr val="424242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algn="l">
              <a:lnSpc>
                <a:spcPts val="3150"/>
              </a:lnSpc>
            </a:pPr>
            <a:r>
              <a:rPr lang="en-US" sz="3500" b="1" spc="-245" dirty="0">
                <a:solidFill>
                  <a:srgbClr val="42424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Stages of the Data Lifecycle:</a:t>
            </a:r>
          </a:p>
          <a:p>
            <a:pPr algn="l">
              <a:lnSpc>
                <a:spcPts val="3150"/>
              </a:lnSpc>
            </a:pPr>
            <a:endParaRPr lang="en-US" sz="3500" b="1" spc="-245" dirty="0">
              <a:solidFill>
                <a:srgbClr val="424242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algn="l">
              <a:lnSpc>
                <a:spcPts val="899"/>
              </a:lnSpc>
            </a:pPr>
            <a:endParaRPr lang="en-US" sz="3500" b="1" spc="-245" dirty="0">
              <a:solidFill>
                <a:srgbClr val="424242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marL="377826" lvl="1" algn="l">
              <a:lnSpc>
                <a:spcPts val="3150"/>
              </a:lnSpc>
            </a:pPr>
            <a:r>
              <a:rPr lang="en-US" sz="3500" b="1" spc="-245" dirty="0">
                <a:solidFill>
                  <a:srgbClr val="42424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1. Acquisition:</a:t>
            </a:r>
            <a:r>
              <a:rPr lang="en-US" sz="3500" spc="-245" dirty="0">
                <a:solidFill>
                  <a:srgbClr val="424242"/>
                </a:solidFill>
                <a:latin typeface="Open Sauce"/>
                <a:ea typeface="Open Sauce"/>
                <a:cs typeface="Open Sauce"/>
                <a:sym typeface="Open Sauce"/>
              </a:rPr>
              <a:t> Data gathered from various sources</a:t>
            </a:r>
          </a:p>
          <a:p>
            <a:pPr algn="l">
              <a:lnSpc>
                <a:spcPts val="3150"/>
              </a:lnSpc>
            </a:pPr>
            <a:endParaRPr lang="en-US" sz="3500" spc="-245" dirty="0">
              <a:solidFill>
                <a:srgbClr val="424242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377826" lvl="1" algn="l">
              <a:lnSpc>
                <a:spcPts val="3150"/>
              </a:lnSpc>
            </a:pPr>
            <a:r>
              <a:rPr lang="en-US" sz="3500" b="1" spc="-245" dirty="0">
                <a:solidFill>
                  <a:srgbClr val="42424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2. Storage:</a:t>
            </a:r>
            <a:r>
              <a:rPr lang="en-US" sz="3500" spc="-245" dirty="0">
                <a:solidFill>
                  <a:srgbClr val="424242"/>
                </a:solidFill>
                <a:latin typeface="Open Sauce"/>
                <a:ea typeface="Open Sauce"/>
                <a:cs typeface="Open Sauce"/>
                <a:sym typeface="Open Sauce"/>
              </a:rPr>
              <a:t> Data moved to databases or cloud storage</a:t>
            </a:r>
          </a:p>
          <a:p>
            <a:pPr algn="l">
              <a:lnSpc>
                <a:spcPts val="3150"/>
              </a:lnSpc>
            </a:pPr>
            <a:endParaRPr lang="en-US" sz="3500" spc="-245" dirty="0">
              <a:solidFill>
                <a:srgbClr val="424242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377826" lvl="1" algn="l">
              <a:lnSpc>
                <a:spcPts val="3150"/>
              </a:lnSpc>
            </a:pPr>
            <a:r>
              <a:rPr lang="en-US" sz="3500" b="1" spc="-245" dirty="0">
                <a:solidFill>
                  <a:srgbClr val="42424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3. Processing: </a:t>
            </a:r>
            <a:r>
              <a:rPr lang="en-US" sz="3500" spc="-245" dirty="0">
                <a:solidFill>
                  <a:srgbClr val="424242"/>
                </a:solidFill>
                <a:latin typeface="Open Sauce"/>
                <a:ea typeface="Open Sauce"/>
                <a:cs typeface="Open Sauce"/>
                <a:sym typeface="Open Sauce"/>
              </a:rPr>
              <a:t>Converting stored data into useful information</a:t>
            </a:r>
          </a:p>
          <a:p>
            <a:pPr algn="l">
              <a:lnSpc>
                <a:spcPts val="3150"/>
              </a:lnSpc>
            </a:pPr>
            <a:endParaRPr lang="en-US" sz="3500" spc="-245" dirty="0">
              <a:solidFill>
                <a:srgbClr val="424242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377826" lvl="1" algn="l">
              <a:lnSpc>
                <a:spcPts val="3150"/>
              </a:lnSpc>
            </a:pPr>
            <a:r>
              <a:rPr lang="en-US" sz="3500" b="1" spc="-245" dirty="0">
                <a:solidFill>
                  <a:srgbClr val="42424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4. Analysis</a:t>
            </a:r>
            <a:r>
              <a:rPr lang="en-US" sz="3500" spc="-245" dirty="0">
                <a:solidFill>
                  <a:srgbClr val="424242"/>
                </a:solidFill>
                <a:latin typeface="Open Sauce"/>
                <a:ea typeface="Open Sauce"/>
                <a:cs typeface="Open Sauce"/>
                <a:sym typeface="Open Sauce"/>
              </a:rPr>
              <a:t>: Processed data scrutinized to identify patterns, trends, correlations</a:t>
            </a:r>
          </a:p>
          <a:p>
            <a:pPr algn="l">
              <a:lnSpc>
                <a:spcPts val="3150"/>
              </a:lnSpc>
            </a:pPr>
            <a:endParaRPr lang="en-US" sz="3500" spc="-245" dirty="0">
              <a:solidFill>
                <a:srgbClr val="424242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377826" lvl="1" algn="l">
              <a:lnSpc>
                <a:spcPts val="3150"/>
              </a:lnSpc>
            </a:pPr>
            <a:r>
              <a:rPr lang="en-US" sz="3500" b="1" spc="-245" dirty="0">
                <a:solidFill>
                  <a:srgbClr val="42424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5. Archiving:</a:t>
            </a:r>
            <a:r>
              <a:rPr lang="en-US" sz="3500" spc="-245" dirty="0">
                <a:solidFill>
                  <a:srgbClr val="424242"/>
                </a:solidFill>
                <a:latin typeface="Open Sauce"/>
                <a:ea typeface="Open Sauce"/>
                <a:cs typeface="Open Sauce"/>
                <a:sym typeface="Open Sauce"/>
              </a:rPr>
              <a:t> Older or less frequently accessed data stored in long-term, cost-effective solutions</a:t>
            </a:r>
          </a:p>
          <a:p>
            <a:pPr algn="l">
              <a:lnSpc>
                <a:spcPts val="3150"/>
              </a:lnSpc>
            </a:pPr>
            <a:endParaRPr lang="en-US" sz="3500" spc="-245" dirty="0">
              <a:solidFill>
                <a:srgbClr val="424242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H="1" flipV="1">
            <a:off x="990600" y="-142991"/>
            <a:ext cx="0" cy="10572982"/>
          </a:xfrm>
          <a:prstGeom prst="line">
            <a:avLst/>
          </a:prstGeom>
          <a:ln w="76200" cap="flat">
            <a:gradFill>
              <a:gsLst>
                <a:gs pos="0">
                  <a:srgbClr val="424242">
                    <a:alpha val="100000"/>
                  </a:srgbClr>
                </a:gs>
                <a:gs pos="25000">
                  <a:srgbClr val="9B9B9B">
                    <a:alpha val="100000"/>
                  </a:srgbClr>
                </a:gs>
                <a:gs pos="50000">
                  <a:srgbClr val="424242">
                    <a:alpha val="100000"/>
                  </a:srgbClr>
                </a:gs>
                <a:gs pos="75000">
                  <a:srgbClr val="9B9B9B">
                    <a:alpha val="100000"/>
                  </a:srgbClr>
                </a:gs>
                <a:gs pos="100000">
                  <a:srgbClr val="424242">
                    <a:alpha val="100000"/>
                  </a:srgbClr>
                </a:gs>
              </a:gsLst>
              <a:lin ang="270000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3568372" y="4382452"/>
            <a:ext cx="11151256" cy="1982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426"/>
              </a:lnSpc>
            </a:pPr>
            <a:r>
              <a:rPr lang="en-US" sz="16028" b="1" spc="-1122">
                <a:solidFill>
                  <a:srgbClr val="42424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DD3A7FD16CAC24AB14869E051BC66D7" ma:contentTypeVersion="3" ma:contentTypeDescription="Create a new document." ma:contentTypeScope="" ma:versionID="2b1b06904eabea911de10d7cf55d6ba3">
  <xsd:schema xmlns:xsd="http://www.w3.org/2001/XMLSchema" xmlns:xs="http://www.w3.org/2001/XMLSchema" xmlns:p="http://schemas.microsoft.com/office/2006/metadata/properties" xmlns:ns2="6bfd5f63-3232-42a0-8db4-2484f8efdeaa" targetNamespace="http://schemas.microsoft.com/office/2006/metadata/properties" ma:root="true" ma:fieldsID="fe476e841904c4fb4179db8de4e01e52" ns2:_="">
    <xsd:import namespace="6bfd5f63-3232-42a0-8db4-2484f8efdea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fd5f63-3232-42a0-8db4-2484f8efdea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FC48653-4F1A-4449-A62F-7D51D9F0BFDF}"/>
</file>

<file path=customXml/itemProps2.xml><?xml version="1.0" encoding="utf-8"?>
<ds:datastoreItem xmlns:ds="http://schemas.openxmlformats.org/officeDocument/2006/customXml" ds:itemID="{468BB116-1A62-4D7D-97EA-DB43A96D0E8C}"/>
</file>

<file path=customXml/itemProps3.xml><?xml version="1.0" encoding="utf-8"?>
<ds:datastoreItem xmlns:ds="http://schemas.openxmlformats.org/officeDocument/2006/customXml" ds:itemID="{ED7FB75B-36CB-4753-BAC2-6C5D512CF990}"/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795</Words>
  <Application>Microsoft Office PowerPoint</Application>
  <PresentationFormat>Custom</PresentationFormat>
  <Paragraphs>187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Calibri</vt:lpstr>
      <vt:lpstr>Arial</vt:lpstr>
      <vt:lpstr>Open Sauce</vt:lpstr>
      <vt:lpstr>Open Sauce Bold</vt:lpstr>
      <vt:lpstr>Open Sans</vt:lpstr>
      <vt:lpstr>Open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Black Modern Company Research Proposal Presentation</dc:title>
  <cp:lastModifiedBy>BEYZA NAZ KARADAĞ</cp:lastModifiedBy>
  <cp:revision>2</cp:revision>
  <dcterms:created xsi:type="dcterms:W3CDTF">2006-08-16T00:00:00Z</dcterms:created>
  <dcterms:modified xsi:type="dcterms:W3CDTF">2026-01-07T07:08:12Z</dcterms:modified>
  <dc:identifier>DAG9noEpfsI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0x010100FDD3A7FD16CAC24AB14869E051BC66D7</vt:lpwstr>
  </property>
</Properties>
</file>