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4"/>
  </p:sldMasterIdLst>
  <p:sldIdLst>
    <p:sldId id="256" r:id="rId5"/>
    <p:sldId id="257" r:id="rId6"/>
    <p:sldId id="258" r:id="rId7"/>
    <p:sldId id="259" r:id="rId8"/>
    <p:sldId id="261" r:id="rId9"/>
    <p:sldId id="260" r:id="rId10"/>
    <p:sldId id="262" r:id="rId11"/>
    <p:sldId id="263" r:id="rId12"/>
    <p:sldId id="264" r:id="rId13"/>
    <p:sldId id="266" r:id="rId14"/>
    <p:sldId id="267" r:id="rId15"/>
    <p:sldId id="268" r:id="rId16"/>
    <p:sldId id="272" r:id="rId17"/>
    <p:sldId id="269" r:id="rId18"/>
    <p:sldId id="270" r:id="rId19"/>
    <p:sldId id="271" r:id="rId20"/>
    <p:sldId id="27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155" d="100"/>
          <a:sy n="155" d="100"/>
        </p:scale>
        <p:origin x="162"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dirty="0"/>
              <a:t>Click to edit Master title style</a:t>
            </a:r>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47210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dirty="0"/>
              <a:t>Click to edit Master title style</a:t>
            </a:r>
          </a:p>
        </p:txBody>
      </p:sp>
      <p:sp>
        <p:nvSpPr>
          <p:cNvPr id="3" name="Content Placeholder 2"/>
          <p:cNvSpPr>
            <a:spLocks noGrp="1"/>
          </p:cNvSpPr>
          <p:nvPr>
            <p:ph idx="1"/>
          </p:nvPr>
        </p:nvSpPr>
        <p:spPr>
          <a:xfrm>
            <a:off x="2589212" y="2133600"/>
            <a:ext cx="8915400" cy="37776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9377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1816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97878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9069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86295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96028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dirty="0"/>
              <a:t>Click to edit Master title style</a:t>
            </a:r>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58032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5654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dirty="0"/>
              <a:t>Click to edit Master title style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48032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168927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dirty="0"/>
              <a:t>Click to edit Master title style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739588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86477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dirty="0"/>
              <a:t>Click to edit Master title style</a:t>
            </a:r>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43662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615795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95166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4608851"/>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ea typeface="+mj-lt"/>
                <a:cs typeface="+mj-lt"/>
              </a:rPr>
              <a:t>A Survey of LLM x DATA</a:t>
            </a:r>
          </a:p>
        </p:txBody>
      </p:sp>
      <p:sp>
        <p:nvSpPr>
          <p:cNvPr id="3" name="Subtitle 2"/>
          <p:cNvSpPr>
            <a:spLocks noGrp="1"/>
          </p:cNvSpPr>
          <p:nvPr>
            <p:ph type="subTitle" idx="1"/>
          </p:nvPr>
        </p:nvSpPr>
        <p:spPr/>
        <p:txBody>
          <a:bodyPr/>
          <a:lstStyle/>
          <a:p>
            <a:r>
              <a:rPr lang="en-US" dirty="0"/>
              <a:t>Ali Görkem Yalçın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43D72-E070-D77D-C0E1-AFBFA756D482}"/>
              </a:ext>
            </a:extLst>
          </p:cNvPr>
          <p:cNvSpPr>
            <a:spLocks noGrp="1"/>
          </p:cNvSpPr>
          <p:nvPr>
            <p:ph type="title"/>
          </p:nvPr>
        </p:nvSpPr>
        <p:spPr/>
        <p:txBody>
          <a:bodyPr/>
          <a:lstStyle/>
          <a:p>
            <a:r>
              <a:rPr lang="en-US" dirty="0"/>
              <a:t>Overview of LLM for Data Analysis </a:t>
            </a:r>
          </a:p>
        </p:txBody>
      </p:sp>
      <p:sp>
        <p:nvSpPr>
          <p:cNvPr id="3" name="Content Placeholder 2">
            <a:extLst>
              <a:ext uri="{FF2B5EF4-FFF2-40B4-BE49-F238E27FC236}">
                <a16:creationId xmlns:a16="http://schemas.microsoft.com/office/drawing/2014/main" id="{E4E45591-5280-D1B2-1222-6D046A10FF5C}"/>
              </a:ext>
            </a:extLst>
          </p:cNvPr>
          <p:cNvSpPr>
            <a:spLocks noGrp="1"/>
          </p:cNvSpPr>
          <p:nvPr>
            <p:ph idx="1"/>
          </p:nvPr>
        </p:nvSpPr>
        <p:spPr/>
        <p:txBody>
          <a:bodyPr vert="horz" lIns="91440" tIns="45720" rIns="91440" bIns="45720" rtlCol="0" anchor="t">
            <a:normAutofit/>
          </a:bodyPr>
          <a:lstStyle/>
          <a:p>
            <a:r>
              <a:rPr lang="en-US" dirty="0"/>
              <a:t>Beyond simple data manipulation, LLMs are revolutionizing data analysis by acting as Natural Language (NL) Interfaces and enabling Semantic-Aware Analysis (tasks requiring human-like understanding)</a:t>
            </a:r>
          </a:p>
          <a:p>
            <a:endParaRPr lang="en-US" dirty="0"/>
          </a:p>
          <a:p>
            <a:r>
              <a:rPr lang="en-US" b="1" dirty="0"/>
              <a:t>The Three Data Categories:</a:t>
            </a:r>
            <a:endParaRPr lang="en-US" dirty="0"/>
          </a:p>
          <a:p>
            <a:r>
              <a:rPr lang="en-US" b="1" dirty="0"/>
              <a:t>Structured Data:</a:t>
            </a:r>
            <a:r>
              <a:rPr lang="en-US" dirty="0"/>
              <a:t> Relational tables and Graphs.</a:t>
            </a:r>
          </a:p>
          <a:p>
            <a:r>
              <a:rPr lang="en-US" b="1" dirty="0"/>
              <a:t>Semi-Structured Data:</a:t>
            </a:r>
            <a:r>
              <a:rPr lang="en-US" dirty="0"/>
              <a:t> Markup languages (JSON/XML) and complex tables.</a:t>
            </a:r>
          </a:p>
          <a:p>
            <a:r>
              <a:rPr lang="en-US" b="1" dirty="0"/>
              <a:t>Unstructured Data:</a:t>
            </a:r>
            <a:r>
              <a:rPr lang="en-US" dirty="0"/>
              <a:t> Documents (PDFs/Images) and Programming Code.</a:t>
            </a:r>
          </a:p>
          <a:p>
            <a:endParaRPr lang="en-US" dirty="0"/>
          </a:p>
        </p:txBody>
      </p:sp>
    </p:spTree>
    <p:extLst>
      <p:ext uri="{BB962C8B-B14F-4D97-AF65-F5344CB8AC3E}">
        <p14:creationId xmlns:p14="http://schemas.microsoft.com/office/powerpoint/2010/main" val="221435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6C2D5-5C2D-47DF-22BC-FC365C2DEC98}"/>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6F0FBAC1-1600-B4ED-03FE-BB841A0616CF}"/>
              </a:ext>
            </a:extLst>
          </p:cNvPr>
          <p:cNvSpPr>
            <a:spLocks noGrp="1"/>
          </p:cNvSpPr>
          <p:nvPr>
            <p:ph idx="1"/>
          </p:nvPr>
        </p:nvSpPr>
        <p:spPr/>
        <p:txBody>
          <a:bodyPr/>
          <a:lstStyle/>
          <a:p>
            <a:r>
              <a:rPr lang="en-US" dirty="0"/>
              <a:t>Structured data has a strict schema (rules). The two main types are </a:t>
            </a:r>
            <a:r>
              <a:rPr lang="en-US" b="1" dirty="0"/>
              <a:t>Relational Data</a:t>
            </a:r>
            <a:r>
              <a:rPr lang="en-US" dirty="0"/>
              <a:t> (tables like SQL) and </a:t>
            </a:r>
            <a:r>
              <a:rPr lang="en-US" b="1" dirty="0"/>
              <a:t>Graph Data</a:t>
            </a:r>
            <a:r>
              <a:rPr lang="en-US" dirty="0"/>
              <a:t> (networks of connected nodes).</a:t>
            </a:r>
          </a:p>
        </p:txBody>
      </p:sp>
    </p:spTree>
    <p:extLst>
      <p:ext uri="{BB962C8B-B14F-4D97-AF65-F5344CB8AC3E}">
        <p14:creationId xmlns:p14="http://schemas.microsoft.com/office/powerpoint/2010/main" val="23775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8C0F8-DBC4-CC7C-2FB3-B65AABC77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15E06-C64C-73ED-4B6B-DCF63DDD4C56}"/>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8E052499-1698-FAD6-03DF-80454477C9EE}"/>
              </a:ext>
            </a:extLst>
          </p:cNvPr>
          <p:cNvSpPr>
            <a:spLocks noGrp="1"/>
          </p:cNvSpPr>
          <p:nvPr>
            <p:ph idx="1"/>
          </p:nvPr>
        </p:nvSpPr>
        <p:spPr/>
        <p:txBody>
          <a:bodyPr/>
          <a:lstStyle/>
          <a:p>
            <a:r>
              <a:rPr lang="en-US" dirty="0"/>
              <a:t>LLM for Natural Language Interfaces (NL-Interface):</a:t>
            </a:r>
          </a:p>
          <a:p>
            <a:pPr lvl="1"/>
            <a:r>
              <a:rPr lang="en-US" dirty="0"/>
              <a:t>Goal: Translate a human question directly into a database command (SQL) or analysis code (Python).User asks: "Show me sales by region.“ LLM writes: SELECT region, sum(sales)...</a:t>
            </a:r>
          </a:p>
          <a:p>
            <a:r>
              <a:rPr lang="en-US" dirty="0"/>
              <a:t>NL2SQL (Natural Language to SQL): </a:t>
            </a:r>
          </a:p>
          <a:p>
            <a:pPr lvl="1"/>
            <a:r>
              <a:rPr lang="en-US" dirty="0"/>
              <a:t>Schema Linking: forced to look at the column names before writing the query </a:t>
            </a:r>
          </a:p>
          <a:p>
            <a:pPr lvl="1"/>
            <a:r>
              <a:rPr lang="en-US" dirty="0"/>
              <a:t>Content Retrieval: checks the actual data values first – IYTE vs IZTECH vs I.Y.T.E</a:t>
            </a:r>
          </a:p>
          <a:p>
            <a:pPr lvl="1"/>
            <a:r>
              <a:rPr lang="en-US" dirty="0"/>
              <a:t>Generation Strategies: It might break the SQL down, step-by-step or generate an intermediate logic representation</a:t>
            </a:r>
          </a:p>
        </p:txBody>
      </p:sp>
    </p:spTree>
    <p:extLst>
      <p:ext uri="{BB962C8B-B14F-4D97-AF65-F5344CB8AC3E}">
        <p14:creationId xmlns:p14="http://schemas.microsoft.com/office/powerpoint/2010/main" val="169407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55684-B68A-0F37-0890-8E623FA59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D5005-9AC9-CCD3-CE99-296C654AA736}"/>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4480C72B-5C2C-AD75-F028-C76E7A963AEC}"/>
              </a:ext>
            </a:extLst>
          </p:cNvPr>
          <p:cNvSpPr>
            <a:spLocks noGrp="1"/>
          </p:cNvSpPr>
          <p:nvPr>
            <p:ph idx="1"/>
          </p:nvPr>
        </p:nvSpPr>
        <p:spPr/>
        <p:txBody>
          <a:bodyPr/>
          <a:lstStyle/>
          <a:p>
            <a:r>
              <a:rPr lang="en-US" dirty="0"/>
              <a:t>LLM for Natural Language Interfaces (NL-Interface):</a:t>
            </a:r>
          </a:p>
          <a:p>
            <a:pPr lvl="1"/>
            <a:r>
              <a:rPr lang="en-US" dirty="0"/>
              <a:t>Goal: Translate a human question directly into a database command (SQL) or analysis code (Python).User asks: "Show me sales by region.“ LLM writes: SELECT region, sum(sales)...</a:t>
            </a:r>
          </a:p>
          <a:p>
            <a:r>
              <a:rPr lang="en-US" dirty="0"/>
              <a:t>NL2Code (Natural Language to Python):</a:t>
            </a:r>
          </a:p>
          <a:p>
            <a:pPr lvl="1"/>
            <a:r>
              <a:rPr lang="en-US" dirty="0"/>
              <a:t>SQL is good for fetching data, but Python (Pandas/NumPy) is better for complex math</a:t>
            </a:r>
          </a:p>
          <a:p>
            <a:pPr lvl="1"/>
            <a:r>
              <a:rPr lang="en-US" dirty="0"/>
              <a:t>Python libraries change often and are complex.</a:t>
            </a:r>
          </a:p>
          <a:p>
            <a:pPr lvl="1"/>
            <a:r>
              <a:rPr lang="en-US" dirty="0"/>
              <a:t>Instead of just writing code, we use Agents. An agent breaks a big question (e.g., "Analyzing the correlation between two datasets") into small tasks</a:t>
            </a:r>
          </a:p>
        </p:txBody>
      </p:sp>
    </p:spTree>
    <p:extLst>
      <p:ext uri="{BB962C8B-B14F-4D97-AF65-F5344CB8AC3E}">
        <p14:creationId xmlns:p14="http://schemas.microsoft.com/office/powerpoint/2010/main" val="2041048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85E8A-6862-D157-3575-AD7550C19849}"/>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B05BB2C3-36E7-4984-05C9-3D46EDF920AF}"/>
              </a:ext>
            </a:extLst>
          </p:cNvPr>
          <p:cNvSpPr>
            <a:spLocks noGrp="1"/>
          </p:cNvSpPr>
          <p:nvPr>
            <p:ph idx="1"/>
          </p:nvPr>
        </p:nvSpPr>
        <p:spPr/>
        <p:txBody>
          <a:bodyPr/>
          <a:lstStyle/>
          <a:p>
            <a:r>
              <a:rPr lang="en-US" dirty="0"/>
              <a:t>December 2025 Context:</a:t>
            </a:r>
          </a:p>
          <a:p>
            <a:pPr lvl="1"/>
            <a:r>
              <a:rPr lang="en-US" dirty="0"/>
              <a:t>The paper highlights specific fine-tuned models for this, but currently, general frontier models (like the latest GPT/Claude/Gemini) have become so good at coding that specialized fine-tuning is less common. The focus has shifted almost entirely to the 'Agent' workflow where the LLM runs the code and fixes its own errors.</a:t>
            </a:r>
          </a:p>
        </p:txBody>
      </p:sp>
    </p:spTree>
    <p:extLst>
      <p:ext uri="{BB962C8B-B14F-4D97-AF65-F5344CB8AC3E}">
        <p14:creationId xmlns:p14="http://schemas.microsoft.com/office/powerpoint/2010/main" val="288161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5CE90-EA22-BF26-F1E5-1B96B9AE6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2C3C8-A00D-8DB6-238C-406E045B4915}"/>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F3021FB3-8B27-02DF-84CE-F1EE48848F04}"/>
              </a:ext>
            </a:extLst>
          </p:cNvPr>
          <p:cNvSpPr>
            <a:spLocks noGrp="1"/>
          </p:cNvSpPr>
          <p:nvPr>
            <p:ph idx="1"/>
          </p:nvPr>
        </p:nvSpPr>
        <p:spPr/>
        <p:txBody>
          <a:bodyPr/>
          <a:lstStyle/>
          <a:p>
            <a:r>
              <a:rPr lang="en-US" dirty="0"/>
              <a:t>LLM for Semantic Analysis:</a:t>
            </a:r>
          </a:p>
          <a:p>
            <a:pPr lvl="1"/>
            <a:r>
              <a:rPr lang="en-US" dirty="0"/>
              <a:t>Multi-Step QA(Decomposition): Breaking a question into a fixed recipe: </a:t>
            </a:r>
          </a:p>
          <a:p>
            <a:pPr lvl="2"/>
            <a:r>
              <a:rPr lang="en-US" dirty="0"/>
              <a:t>Static Decomposition: Retrieve data -&gt; Select relevant rows -&gt; Reason.</a:t>
            </a:r>
          </a:p>
          <a:p>
            <a:pPr lvl="2"/>
            <a:r>
              <a:rPr lang="en-US" dirty="0"/>
              <a:t>Iterative Decomposition: The LLM acts like a human with a spreadsheet. It performs one operation, looks at the new "intermediate" table, decides what to do next, and repeats until it has the answer. Better for complex questions.</a:t>
            </a:r>
          </a:p>
          <a:p>
            <a:pPr lvl="1"/>
            <a:r>
              <a:rPr lang="en-US" dirty="0"/>
              <a:t>End-to-End QA(Table as image) </a:t>
            </a:r>
          </a:p>
          <a:p>
            <a:pPr lvl="2"/>
            <a:r>
              <a:rPr lang="en-US" dirty="0"/>
              <a:t>The Problem: Standard LLMs read text. Tables are 2D grids. Reading a table line-by-line as text destroys the structure.</a:t>
            </a:r>
          </a:p>
          <a:p>
            <a:pPr lvl="2"/>
            <a:r>
              <a:rPr lang="en-US" dirty="0"/>
              <a:t>The Solution: Convert the table into an Image or a set of visual patches. Multimodal models "look" at the table visually (like a human scanning a receipt) to understand spatial relationships.</a:t>
            </a:r>
          </a:p>
        </p:txBody>
      </p:sp>
    </p:spTree>
    <p:extLst>
      <p:ext uri="{BB962C8B-B14F-4D97-AF65-F5344CB8AC3E}">
        <p14:creationId xmlns:p14="http://schemas.microsoft.com/office/powerpoint/2010/main" val="717230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9D1EB-B896-242F-5A68-90008D4F37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CE7B4-932B-D6BF-29C5-24FB3A6191DF}"/>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FCBF5D0A-E8BA-22D4-A279-9CD95B8FCEE5}"/>
              </a:ext>
            </a:extLst>
          </p:cNvPr>
          <p:cNvSpPr>
            <a:spLocks noGrp="1"/>
          </p:cNvSpPr>
          <p:nvPr>
            <p:ph idx="1"/>
          </p:nvPr>
        </p:nvSpPr>
        <p:spPr/>
        <p:txBody>
          <a:bodyPr/>
          <a:lstStyle/>
          <a:p>
            <a:r>
              <a:rPr lang="en-US" dirty="0"/>
              <a:t>December 2025 Context:</a:t>
            </a:r>
          </a:p>
          <a:p>
            <a:pPr lvl="1"/>
            <a:r>
              <a:rPr lang="en-US" dirty="0"/>
              <a:t>"The 'Table-as-Image' approach mentioned here has become much more popularity. </a:t>
            </a:r>
          </a:p>
          <a:p>
            <a:pPr lvl="1"/>
            <a:r>
              <a:rPr lang="en-US" dirty="0"/>
              <a:t>With recent LLMs, we can now feed screenshots of massive spreadsheets directly to the model with high accuracy</a:t>
            </a:r>
          </a:p>
        </p:txBody>
      </p:sp>
    </p:spTree>
    <p:extLst>
      <p:ext uri="{BB962C8B-B14F-4D97-AF65-F5344CB8AC3E}">
        <p14:creationId xmlns:p14="http://schemas.microsoft.com/office/powerpoint/2010/main" val="587129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4D31-46BC-7B86-5539-6F56AF850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550417-6734-EB02-3FD5-9E12937AF6C4}"/>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96D7DF00-C08A-D947-1367-C6C6CAF47BAA}"/>
              </a:ext>
            </a:extLst>
          </p:cNvPr>
          <p:cNvSpPr>
            <a:spLocks noGrp="1"/>
          </p:cNvSpPr>
          <p:nvPr>
            <p:ph idx="1"/>
          </p:nvPr>
        </p:nvSpPr>
        <p:spPr/>
        <p:txBody>
          <a:bodyPr/>
          <a:lstStyle/>
          <a:p>
            <a:r>
              <a:rPr lang="en-US" dirty="0"/>
              <a:t>Graph Data Analysis </a:t>
            </a:r>
          </a:p>
          <a:p>
            <a:r>
              <a:rPr lang="en-US" dirty="0"/>
              <a:t>The Challenge is the structure of the data</a:t>
            </a:r>
          </a:p>
          <a:p>
            <a:r>
              <a:rPr lang="en-US" dirty="0"/>
              <a:t>It doesn't look like a sentence or a table. </a:t>
            </a:r>
          </a:p>
          <a:p>
            <a:r>
              <a:rPr lang="en-US" dirty="0"/>
              <a:t>Multi-Hop Reasoning: Questions often require jumping across multiple connections (e.g., "Who are the friends of the friends of X?").Search Space: The web of connections is massive; the LLM can't "read" the whole graph at once.</a:t>
            </a:r>
          </a:p>
        </p:txBody>
      </p:sp>
    </p:spTree>
    <p:extLst>
      <p:ext uri="{BB962C8B-B14F-4D97-AF65-F5344CB8AC3E}">
        <p14:creationId xmlns:p14="http://schemas.microsoft.com/office/powerpoint/2010/main" val="18496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CC9C9-7985-4D1A-B445-5D0AFB1840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0B163-A4CB-77D6-BD32-3B9767B7BD5B}"/>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B204E0DE-5AEC-E4C5-3B15-C35F28BDE338}"/>
              </a:ext>
            </a:extLst>
          </p:cNvPr>
          <p:cNvSpPr>
            <a:spLocks noGrp="1"/>
          </p:cNvSpPr>
          <p:nvPr>
            <p:ph idx="1"/>
          </p:nvPr>
        </p:nvSpPr>
        <p:spPr/>
        <p:txBody>
          <a:bodyPr/>
          <a:lstStyle/>
          <a:p>
            <a:r>
              <a:rPr lang="en-US" dirty="0"/>
              <a:t>Graph Data – Analysis </a:t>
            </a:r>
          </a:p>
          <a:p>
            <a:r>
              <a:rPr lang="en-US" dirty="0"/>
              <a:t>Retrieval-Then-Reasoning:</a:t>
            </a:r>
          </a:p>
          <a:p>
            <a:pPr lvl="1"/>
            <a:r>
              <a:rPr lang="en-US" dirty="0"/>
              <a:t>Since the graph is too big, we first extract a Subgraph (just the relevant neighborhood of nodes). The LLM then only looks at this small subgraph to answer the question. </a:t>
            </a:r>
          </a:p>
          <a:p>
            <a:r>
              <a:rPr lang="en-US" dirty="0"/>
              <a:t>Agent-Based Methods:</a:t>
            </a:r>
          </a:p>
          <a:p>
            <a:pPr lvl="1"/>
            <a:r>
              <a:rPr lang="en-US" dirty="0"/>
              <a:t>An agent "walks" the graph. It starts at a node, decides which path to follow, collects info, and decides where to go next. If it hits a dead end (error), it self-corrects and tries a different path.</a:t>
            </a:r>
          </a:p>
        </p:txBody>
      </p:sp>
    </p:spTree>
    <p:extLst>
      <p:ext uri="{BB962C8B-B14F-4D97-AF65-F5344CB8AC3E}">
        <p14:creationId xmlns:p14="http://schemas.microsoft.com/office/powerpoint/2010/main" val="1243880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6B2DC-BC2C-AC5D-5FD5-A95EABB1C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1B612-BC6A-D2EF-4AE0-6AB3F10AA8E2}"/>
              </a:ext>
            </a:extLst>
          </p:cNvPr>
          <p:cNvSpPr>
            <a:spLocks noGrp="1"/>
          </p:cNvSpPr>
          <p:nvPr>
            <p:ph type="title"/>
          </p:nvPr>
        </p:nvSpPr>
        <p:spPr/>
        <p:txBody>
          <a:bodyPr/>
          <a:lstStyle/>
          <a:p>
            <a:r>
              <a:rPr lang="en-US" dirty="0"/>
              <a:t>Structured Data Analysis</a:t>
            </a:r>
          </a:p>
        </p:txBody>
      </p:sp>
      <p:sp>
        <p:nvSpPr>
          <p:cNvPr id="3" name="Content Placeholder 2">
            <a:extLst>
              <a:ext uri="{FF2B5EF4-FFF2-40B4-BE49-F238E27FC236}">
                <a16:creationId xmlns:a16="http://schemas.microsoft.com/office/drawing/2014/main" id="{7A00FD7F-8103-728A-F135-B01FCD6F81C0}"/>
              </a:ext>
            </a:extLst>
          </p:cNvPr>
          <p:cNvSpPr>
            <a:spLocks noGrp="1"/>
          </p:cNvSpPr>
          <p:nvPr>
            <p:ph idx="1"/>
          </p:nvPr>
        </p:nvSpPr>
        <p:spPr/>
        <p:txBody>
          <a:bodyPr/>
          <a:lstStyle/>
          <a:p>
            <a:r>
              <a:rPr lang="en-US" dirty="0"/>
              <a:t>Graph Data – Analysis </a:t>
            </a:r>
          </a:p>
          <a:p>
            <a:r>
              <a:rPr lang="en-US" dirty="0"/>
              <a:t>December 2025 Context Check: "The paper mentions 'Graph Task Based Fine-Tuning'. In the last 6 months, the trend has moved away from fine-tuning specific models for graphs. </a:t>
            </a:r>
          </a:p>
          <a:p>
            <a:r>
              <a:rPr lang="en-US" dirty="0"/>
              <a:t>Instead, we use massive context windows to simply dump the textual representation of the subgraph directly into a standard strong LLM."</a:t>
            </a:r>
          </a:p>
        </p:txBody>
      </p:sp>
    </p:spTree>
    <p:extLst>
      <p:ext uri="{BB962C8B-B14F-4D97-AF65-F5344CB8AC3E}">
        <p14:creationId xmlns:p14="http://schemas.microsoft.com/office/powerpoint/2010/main" val="2062625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F503C-A5ED-9DFE-2194-2C75C746B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309A2-E3CC-8A19-BDAC-BE7BA1C563C3}"/>
              </a:ext>
            </a:extLst>
          </p:cNvPr>
          <p:cNvSpPr>
            <a:spLocks noGrp="1"/>
          </p:cNvSpPr>
          <p:nvPr>
            <p:ph type="title"/>
          </p:nvPr>
        </p:nvSpPr>
        <p:spPr/>
        <p:txBody>
          <a:bodyPr/>
          <a:lstStyle/>
          <a:p>
            <a:r>
              <a:rPr lang="en-US" dirty="0"/>
              <a:t>Semi-Structured Data Analysis</a:t>
            </a:r>
          </a:p>
        </p:txBody>
      </p:sp>
      <p:sp>
        <p:nvSpPr>
          <p:cNvPr id="3" name="Content Placeholder 2">
            <a:extLst>
              <a:ext uri="{FF2B5EF4-FFF2-40B4-BE49-F238E27FC236}">
                <a16:creationId xmlns:a16="http://schemas.microsoft.com/office/drawing/2014/main" id="{44FF08F3-D977-82C3-960A-5ED77615E6D4}"/>
              </a:ext>
            </a:extLst>
          </p:cNvPr>
          <p:cNvSpPr>
            <a:spLocks noGrp="1"/>
          </p:cNvSpPr>
          <p:nvPr>
            <p:ph idx="1"/>
          </p:nvPr>
        </p:nvSpPr>
        <p:spPr/>
        <p:txBody>
          <a:bodyPr>
            <a:normAutofit/>
          </a:bodyPr>
          <a:lstStyle/>
          <a:p>
            <a:r>
              <a:rPr lang="en-US" dirty="0"/>
              <a:t>Markup Languages: Data that has tags and hierarchy but no strict table structure (e.g., JSON, XML, HTML).</a:t>
            </a:r>
          </a:p>
          <a:p>
            <a:r>
              <a:rPr lang="en-US" dirty="0"/>
              <a:t>Traditional: You had to write complex code to "flatten" these trees into tables to analyze them.</a:t>
            </a:r>
          </a:p>
          <a:p>
            <a:r>
              <a:rPr lang="en-US" dirty="0"/>
              <a:t>LLM Approach: LLMs understand hierarchy naturally. You can feed raw JSON or HTML directly to the model, and it extracts relationships (e.g., "Find the city inside the address object") without any conversion steps.</a:t>
            </a:r>
          </a:p>
          <a:p>
            <a:r>
              <a:rPr lang="en-US" dirty="0"/>
              <a:t>December 2025 Context Check: "This has become the standard. With today's massive context windows (1M+ tokens), we no longer meticulously parse JSON files. We often just dump the entire raw file into the prompt, and the model navigates the structure perfectly."</a:t>
            </a:r>
          </a:p>
        </p:txBody>
      </p:sp>
    </p:spTree>
    <p:extLst>
      <p:ext uri="{BB962C8B-B14F-4D97-AF65-F5344CB8AC3E}">
        <p14:creationId xmlns:p14="http://schemas.microsoft.com/office/powerpoint/2010/main" val="15912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7FEDC-47A8-A083-C985-CB3AEA5B7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72995-E46F-52D2-99FB-1A858D0D5C00}"/>
              </a:ext>
            </a:extLst>
          </p:cNvPr>
          <p:cNvSpPr>
            <a:spLocks noGrp="1"/>
          </p:cNvSpPr>
          <p:nvPr>
            <p:ph type="title"/>
          </p:nvPr>
        </p:nvSpPr>
        <p:spPr/>
        <p:txBody>
          <a:bodyPr/>
          <a:lstStyle/>
          <a:p>
            <a:r>
              <a:rPr lang="en-US" dirty="0"/>
              <a:t>Semi-Structured Data Analysis</a:t>
            </a:r>
          </a:p>
        </p:txBody>
      </p:sp>
      <p:sp>
        <p:nvSpPr>
          <p:cNvPr id="3" name="Content Placeholder 2">
            <a:extLst>
              <a:ext uri="{FF2B5EF4-FFF2-40B4-BE49-F238E27FC236}">
                <a16:creationId xmlns:a16="http://schemas.microsoft.com/office/drawing/2014/main" id="{13A8B2FE-5CB5-F235-C9FA-E704DB53EDD5}"/>
              </a:ext>
            </a:extLst>
          </p:cNvPr>
          <p:cNvSpPr>
            <a:spLocks noGrp="1"/>
          </p:cNvSpPr>
          <p:nvPr>
            <p:ph idx="1"/>
          </p:nvPr>
        </p:nvSpPr>
        <p:spPr/>
        <p:txBody>
          <a:bodyPr>
            <a:normAutofit lnSpcReduction="10000"/>
          </a:bodyPr>
          <a:lstStyle/>
          <a:p>
            <a:r>
              <a:rPr lang="en-US" dirty="0"/>
              <a:t>Complex Spreadsheets</a:t>
            </a:r>
          </a:p>
          <a:p>
            <a:r>
              <a:rPr lang="en-US" dirty="0"/>
              <a:t>The Challenge: Real-world Excel sheets are messy. They have merged cells, multi-level headers, and colors that mean things.</a:t>
            </a:r>
          </a:p>
          <a:p>
            <a:r>
              <a:rPr lang="en-US" dirty="0"/>
              <a:t>The Gap: Standard tools (like Python's pandas) are unstable on merged cells.</a:t>
            </a:r>
          </a:p>
          <a:p>
            <a:r>
              <a:rPr lang="en-US" dirty="0"/>
              <a:t>The Solution: Models need to understand "spatial" layout (which cell is under which header) rather than just reading row by row. Use image instead of spreadsheet files.</a:t>
            </a:r>
          </a:p>
          <a:p>
            <a:r>
              <a:rPr lang="en-US" dirty="0"/>
              <a:t>December 2025 Context Check: "The 'gap' mentioned here is closing fast. As of late 2025, frontier multimodal models can take a screenshot of a complex Excel sheet and understand it visually, bypassing the messy file parsing issues entirely."</a:t>
            </a:r>
          </a:p>
        </p:txBody>
      </p:sp>
    </p:spTree>
    <p:extLst>
      <p:ext uri="{BB962C8B-B14F-4D97-AF65-F5344CB8AC3E}">
        <p14:creationId xmlns:p14="http://schemas.microsoft.com/office/powerpoint/2010/main" val="1751302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F27BD-7097-2375-9B63-50DBA327F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4E117-DA7A-7263-F54B-916CC213653C}"/>
              </a:ext>
            </a:extLst>
          </p:cNvPr>
          <p:cNvSpPr>
            <a:spLocks noGrp="1"/>
          </p:cNvSpPr>
          <p:nvPr>
            <p:ph type="title"/>
          </p:nvPr>
        </p:nvSpPr>
        <p:spPr/>
        <p:txBody>
          <a:bodyPr/>
          <a:lstStyle/>
          <a:p>
            <a:r>
              <a:rPr lang="en-US" dirty="0"/>
              <a:t>Unstructured Data Analysis</a:t>
            </a:r>
          </a:p>
        </p:txBody>
      </p:sp>
      <p:sp>
        <p:nvSpPr>
          <p:cNvPr id="3" name="Content Placeholder 2">
            <a:extLst>
              <a:ext uri="{FF2B5EF4-FFF2-40B4-BE49-F238E27FC236}">
                <a16:creationId xmlns:a16="http://schemas.microsoft.com/office/drawing/2014/main" id="{E09B8D29-270D-32AF-E71A-BFF12B9EFA09}"/>
              </a:ext>
            </a:extLst>
          </p:cNvPr>
          <p:cNvSpPr>
            <a:spLocks noGrp="1"/>
          </p:cNvSpPr>
          <p:nvPr>
            <p:ph idx="1"/>
          </p:nvPr>
        </p:nvSpPr>
        <p:spPr/>
        <p:txBody>
          <a:bodyPr>
            <a:normAutofit fontScale="85000" lnSpcReduction="10000"/>
          </a:bodyPr>
          <a:lstStyle/>
          <a:p>
            <a:r>
              <a:rPr lang="en-US" dirty="0"/>
              <a:t>Documents (PDFs &amp; Images)</a:t>
            </a:r>
          </a:p>
          <a:p>
            <a:r>
              <a:rPr lang="en-US" dirty="0"/>
              <a:t>OCR-Dependent Methods (The Old Standard):</a:t>
            </a:r>
          </a:p>
          <a:p>
            <a:pPr lvl="1"/>
            <a:r>
              <a:rPr lang="en-US" dirty="0"/>
              <a:t>How it works: You use a separate tool (OCR) to turn the image into text, then feed that text to the LLM.</a:t>
            </a:r>
          </a:p>
          <a:p>
            <a:pPr lvl="1"/>
            <a:r>
              <a:rPr lang="en-US" dirty="0"/>
              <a:t>The Flaw: If the OCR tool misreads "Bill" as "8ill", the LLM can't fix it. It propagates the error.</a:t>
            </a:r>
          </a:p>
          <a:p>
            <a:r>
              <a:rPr lang="en-US" dirty="0"/>
              <a:t>OCR-Free Methods (The New Standard):</a:t>
            </a:r>
          </a:p>
          <a:p>
            <a:pPr lvl="1"/>
            <a:r>
              <a:rPr lang="en-US" dirty="0"/>
              <a:t>Text Masked Learning: Training the model to predict missing text directly from the image pixels</a:t>
            </a:r>
          </a:p>
          <a:p>
            <a:pPr lvl="1"/>
            <a:r>
              <a:rPr lang="en-US" dirty="0"/>
              <a:t>Visual Embedded Learning: The model treats the document as a high-resolution image. It sees the font size, the layout, and the text all at once. </a:t>
            </a:r>
          </a:p>
          <a:p>
            <a:r>
              <a:rPr lang="en-US" dirty="0"/>
              <a:t>December 2025 Context Check: "The industry has aggressively shifted to 'OCR-Free.' We now call these Vision-Language Models (VLMs). They don't 'read' text; they 'see' the document. This is critical for reading charts, handwriting, and forms where layout is meaning."</a:t>
            </a:r>
          </a:p>
          <a:p>
            <a:endParaRPr lang="en-US" dirty="0"/>
          </a:p>
        </p:txBody>
      </p:sp>
    </p:spTree>
    <p:extLst>
      <p:ext uri="{BB962C8B-B14F-4D97-AF65-F5344CB8AC3E}">
        <p14:creationId xmlns:p14="http://schemas.microsoft.com/office/powerpoint/2010/main" val="270859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ADD5D-1F52-27A1-BCD1-0C0177F47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4368B-246E-A996-B82D-A5B9CF1B5822}"/>
              </a:ext>
            </a:extLst>
          </p:cNvPr>
          <p:cNvSpPr>
            <a:spLocks noGrp="1"/>
          </p:cNvSpPr>
          <p:nvPr>
            <p:ph type="title"/>
          </p:nvPr>
        </p:nvSpPr>
        <p:spPr/>
        <p:txBody>
          <a:bodyPr/>
          <a:lstStyle/>
          <a:p>
            <a:r>
              <a:rPr lang="en-US" dirty="0"/>
              <a:t>Unstructured Data Analysis</a:t>
            </a:r>
          </a:p>
        </p:txBody>
      </p:sp>
      <p:sp>
        <p:nvSpPr>
          <p:cNvPr id="3" name="Content Placeholder 2">
            <a:extLst>
              <a:ext uri="{FF2B5EF4-FFF2-40B4-BE49-F238E27FC236}">
                <a16:creationId xmlns:a16="http://schemas.microsoft.com/office/drawing/2014/main" id="{DC652126-5CB3-ED7F-48BD-2F522DDB65B3}"/>
              </a:ext>
            </a:extLst>
          </p:cNvPr>
          <p:cNvSpPr>
            <a:spLocks noGrp="1"/>
          </p:cNvSpPr>
          <p:nvPr>
            <p:ph idx="1"/>
          </p:nvPr>
        </p:nvSpPr>
        <p:spPr/>
        <p:txBody>
          <a:bodyPr>
            <a:normAutofit/>
          </a:bodyPr>
          <a:lstStyle/>
          <a:p>
            <a:r>
              <a:rPr lang="en-US" dirty="0"/>
              <a:t>Code Analysis (Security)</a:t>
            </a:r>
          </a:p>
          <a:p>
            <a:r>
              <a:rPr lang="en-US" dirty="0"/>
              <a:t>Vulnerability Detection:</a:t>
            </a:r>
          </a:p>
          <a:p>
            <a:pPr lvl="1"/>
            <a:r>
              <a:rPr lang="en-US" b="1" dirty="0"/>
              <a:t>Goal:</a:t>
            </a:r>
            <a:r>
              <a:rPr lang="en-US" dirty="0"/>
              <a:t> Finding security holes (bugs) in code.</a:t>
            </a:r>
          </a:p>
          <a:p>
            <a:pPr lvl="1"/>
            <a:r>
              <a:rPr lang="en-US" b="1" dirty="0"/>
              <a:t>Technique:</a:t>
            </a:r>
            <a:r>
              <a:rPr lang="en-US" dirty="0"/>
              <a:t> </a:t>
            </a:r>
            <a:r>
              <a:rPr lang="en-US" b="1" dirty="0"/>
              <a:t>Case-Driven Prompting</a:t>
            </a:r>
            <a:r>
              <a:rPr lang="en-US" dirty="0"/>
              <a:t>. Instead of asking "Is this safe?", we give the LLM examples of known bugs (Few-Shot Learning) and ask "Does this code look like those?"</a:t>
            </a:r>
          </a:p>
          <a:p>
            <a:pPr lvl="1"/>
            <a:r>
              <a:rPr lang="en-US" b="1" dirty="0"/>
              <a:t>Result:</a:t>
            </a:r>
            <a:r>
              <a:rPr lang="en-US" dirty="0"/>
              <a:t> This dramatically improves detection rates over standard prompts.</a:t>
            </a:r>
          </a:p>
          <a:p>
            <a:pPr lvl="1"/>
            <a:r>
              <a:rPr lang="en-US" b="1" dirty="0"/>
              <a:t>December 2025 Context Check:</a:t>
            </a:r>
            <a:r>
              <a:rPr lang="en-US" dirty="0"/>
              <a:t> "Detection was the goal 6 months ago. Now, the focus is on </a:t>
            </a:r>
            <a:r>
              <a:rPr lang="en-US" b="1" dirty="0"/>
              <a:t>Auto-Repair</a:t>
            </a:r>
            <a:r>
              <a:rPr lang="en-US" dirty="0"/>
              <a:t>. Agents don't just flag the bug; they write the patch, run the test, and fix it if it fails."</a:t>
            </a:r>
          </a:p>
          <a:p>
            <a:pPr lvl="1"/>
            <a:endParaRPr lang="en-US" dirty="0"/>
          </a:p>
        </p:txBody>
      </p:sp>
    </p:spTree>
    <p:extLst>
      <p:ext uri="{BB962C8B-B14F-4D97-AF65-F5344CB8AC3E}">
        <p14:creationId xmlns:p14="http://schemas.microsoft.com/office/powerpoint/2010/main" val="4234956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FF280-0077-CB2E-921A-70AFC321B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4E10E-0B2B-F6A0-26D7-624FE2C49B8F}"/>
              </a:ext>
            </a:extLst>
          </p:cNvPr>
          <p:cNvSpPr>
            <a:spLocks noGrp="1"/>
          </p:cNvSpPr>
          <p:nvPr>
            <p:ph type="title"/>
          </p:nvPr>
        </p:nvSpPr>
        <p:spPr/>
        <p:txBody>
          <a:bodyPr/>
          <a:lstStyle/>
          <a:p>
            <a:r>
              <a:rPr lang="en-US" dirty="0"/>
              <a:t>Unstructured Data Analysis</a:t>
            </a:r>
          </a:p>
        </p:txBody>
      </p:sp>
      <p:sp>
        <p:nvSpPr>
          <p:cNvPr id="3" name="Content Placeholder 2">
            <a:extLst>
              <a:ext uri="{FF2B5EF4-FFF2-40B4-BE49-F238E27FC236}">
                <a16:creationId xmlns:a16="http://schemas.microsoft.com/office/drawing/2014/main" id="{3F65CC43-40DE-FC15-6E0A-77DF811EF889}"/>
              </a:ext>
            </a:extLst>
          </p:cNvPr>
          <p:cNvSpPr>
            <a:spLocks noGrp="1"/>
          </p:cNvSpPr>
          <p:nvPr>
            <p:ph idx="1"/>
          </p:nvPr>
        </p:nvSpPr>
        <p:spPr/>
        <p:txBody>
          <a:bodyPr>
            <a:normAutofit fontScale="92500" lnSpcReduction="20000"/>
          </a:bodyPr>
          <a:lstStyle/>
          <a:p>
            <a:r>
              <a:rPr lang="en-US" dirty="0"/>
              <a:t>Code Analysis (Semantics)</a:t>
            </a:r>
          </a:p>
          <a:p>
            <a:r>
              <a:rPr lang="en-US" dirty="0"/>
              <a:t>1. Code Summarization</a:t>
            </a:r>
          </a:p>
          <a:p>
            <a:pPr lvl="1"/>
            <a:r>
              <a:rPr lang="en-US" dirty="0"/>
              <a:t>Helping developers understand legacy code.</a:t>
            </a:r>
          </a:p>
          <a:p>
            <a:pPr lvl="1"/>
            <a:r>
              <a:rPr lang="en-US" dirty="0"/>
              <a:t>Technique</a:t>
            </a:r>
            <a:r>
              <a:rPr lang="en-US" i="1" dirty="0"/>
              <a:t>:</a:t>
            </a:r>
            <a:r>
              <a:rPr lang="en-US" dirty="0"/>
              <a:t> Retrieving similar code snippets from a database to help the LLM understand the specific coding style before it writes the summary.</a:t>
            </a:r>
          </a:p>
          <a:p>
            <a:r>
              <a:rPr lang="en-US" dirty="0"/>
              <a:t>2. Repository-Level Code Completion:</a:t>
            </a:r>
          </a:p>
          <a:p>
            <a:pPr lvl="1"/>
            <a:r>
              <a:rPr lang="en-US" dirty="0"/>
              <a:t>The Challenge: Code depends on other files (imports/libraries). A single file often isn't enough context.</a:t>
            </a:r>
          </a:p>
          <a:p>
            <a:pPr lvl="1"/>
            <a:r>
              <a:rPr lang="en-US" dirty="0"/>
              <a:t>The Solution: Repo-Fusion. The model retrieves context from the </a:t>
            </a:r>
            <a:r>
              <a:rPr lang="en-US" i="1" dirty="0"/>
              <a:t>entire</a:t>
            </a:r>
            <a:r>
              <a:rPr lang="en-US" dirty="0"/>
              <a:t> repository (imports, class definitions in other files) to make accurate suggestions.</a:t>
            </a:r>
          </a:p>
          <a:p>
            <a:r>
              <a:rPr lang="en-US" dirty="0"/>
              <a:t>December 2025 Context Check: This is now a standard feature in tools like GitHub Copilot and Cursor. They use 'RAG for Code' to index your entire project locally, so the LLM knows about a function you wrote in a different file three months ago.</a:t>
            </a:r>
          </a:p>
          <a:p>
            <a:pPr lvl="1"/>
            <a:endParaRPr lang="en-US" dirty="0"/>
          </a:p>
        </p:txBody>
      </p:sp>
    </p:spTree>
    <p:extLst>
      <p:ext uri="{BB962C8B-B14F-4D97-AF65-F5344CB8AC3E}">
        <p14:creationId xmlns:p14="http://schemas.microsoft.com/office/powerpoint/2010/main" val="4238764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7A5-FD40-086C-2D87-57C0BF933339}"/>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8AC30A03-D8EC-761F-6EF1-CDDD2680D98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5973178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FDD3A7FD16CAC24AB14869E051BC66D7" ma:contentTypeVersion="3" ma:contentTypeDescription="Yeni belge oluşturun." ma:contentTypeScope="" ma:versionID="ed33ab56d05d4709465b58c5cb6c9623">
  <xsd:schema xmlns:xsd="http://www.w3.org/2001/XMLSchema" xmlns:xs="http://www.w3.org/2001/XMLSchema" xmlns:p="http://schemas.microsoft.com/office/2006/metadata/properties" xmlns:ns2="6bfd5f63-3232-42a0-8db4-2484f8efdeaa" targetNamespace="http://schemas.microsoft.com/office/2006/metadata/properties" ma:root="true" ma:fieldsID="6241f700414df0124bf534e6073065f8" ns2:_="">
    <xsd:import namespace="6bfd5f63-3232-42a0-8db4-2484f8efdea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d5f63-3232-42a0-8db4-2484f8efde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9D981B-126C-4F33-9966-0853E6E15693}">
  <ds:schemaRefs>
    <ds:schemaRef ds:uri="http://schemas.microsoft.com/sharepoint/v3/contenttype/forms"/>
  </ds:schemaRefs>
</ds:datastoreItem>
</file>

<file path=customXml/itemProps2.xml><?xml version="1.0" encoding="utf-8"?>
<ds:datastoreItem xmlns:ds="http://schemas.openxmlformats.org/officeDocument/2006/customXml" ds:itemID="{34EB8088-BDDE-4B61-B4F0-D2D6B908F48F}"/>
</file>

<file path=customXml/itemProps3.xml><?xml version="1.0" encoding="utf-8"?>
<ds:datastoreItem xmlns:ds="http://schemas.openxmlformats.org/officeDocument/2006/customXml" ds:itemID="{FBEFC338-A8C5-4DD6-A748-9B2C498D77B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2974</TotalTime>
  <Words>1521</Words>
  <Application>Microsoft Office PowerPoint</Application>
  <PresentationFormat>Geniş ekran</PresentationFormat>
  <Paragraphs>92</Paragraphs>
  <Slides>17</Slides>
  <Notes>0</Notes>
  <HiddenSlides>0</HiddenSlides>
  <MMClips>0</MMClips>
  <ScaleCrop>false</ScaleCrop>
  <HeadingPairs>
    <vt:vector size="4" baseType="variant">
      <vt:variant>
        <vt:lpstr>Tema</vt:lpstr>
      </vt:variant>
      <vt:variant>
        <vt:i4>1</vt:i4>
      </vt:variant>
      <vt:variant>
        <vt:lpstr>Slayt Başlıkları</vt:lpstr>
      </vt:variant>
      <vt:variant>
        <vt:i4>17</vt:i4>
      </vt:variant>
    </vt:vector>
  </HeadingPairs>
  <TitlesOfParts>
    <vt:vector size="18" baseType="lpstr">
      <vt:lpstr>Wisp</vt:lpstr>
      <vt:lpstr>A Survey of LLM x DATA</vt:lpstr>
      <vt:lpstr>Overview of LLM for Data Analysis </vt:lpstr>
      <vt:lpstr>Structured Data Analysis</vt:lpstr>
      <vt:lpstr>Structured Data Analysis</vt:lpstr>
      <vt:lpstr>Structured Data Analysis</vt:lpstr>
      <vt:lpstr>Structured Data Analysis</vt:lpstr>
      <vt:lpstr>Structured Data Analysis</vt:lpstr>
      <vt:lpstr>Structured Data Analysis</vt:lpstr>
      <vt:lpstr>Structured Data Analysis</vt:lpstr>
      <vt:lpstr>Structured Data Analysis</vt:lpstr>
      <vt:lpstr>Structured Data Analysis</vt:lpstr>
      <vt:lpstr>Semi-Structured Data Analysis</vt:lpstr>
      <vt:lpstr>Semi-Structured Data Analysis</vt:lpstr>
      <vt:lpstr>Unstructured Data Analysis</vt:lpstr>
      <vt:lpstr>Unstructured Data Analysis</vt:lpstr>
      <vt:lpstr>Unstructured Data Analysis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Ali Görkem</cp:lastModifiedBy>
  <cp:revision>341</cp:revision>
  <dcterms:created xsi:type="dcterms:W3CDTF">2025-04-09T22:53:16Z</dcterms:created>
  <dcterms:modified xsi:type="dcterms:W3CDTF">2026-01-11T11:28:21Z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0x010100FDD3A7FD16CAC24AB14869E051BC66D7</vt:lpwstr>
  </property>
</Properties>
</file>