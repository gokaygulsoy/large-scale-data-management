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6"/>
    <p:restoredTop sz="79040"/>
  </p:normalViewPr>
  <p:slideViewPr>
    <p:cSldViewPr snapToGrid="0">
      <p:cViewPr varScale="1">
        <p:scale>
          <a:sx n="88" d="100"/>
          <a:sy n="88" d="100"/>
        </p:scale>
        <p:origin x="156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97BE9-6EAC-2949-9031-FB3B8457D9A9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E5745-CA87-0042-A4F0-20CD165D814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982120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1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66654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1A37D-8E1F-B59F-F93F-2CBDD54B7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CF861-19FB-2783-F0AE-81EC5CF89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A5530-15DA-D85A-F6F5-35C329467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06E43-C3B9-AC5E-B8D3-40AB45808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2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452102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24207-A9C8-6E70-0A65-858053C53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309F35-76F4-1638-B2D2-2ED257079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26876-1D7C-DDF3-43C3-67C6AAB6F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C86BC-1F01-20E5-6746-66798D7CA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3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756435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9ECE6-38A2-076B-43B5-B051FAA9A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E097E-A4A4-5A99-0A57-532E19D9E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5C810-F3A7-2B6E-D73D-C6E4C21B6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D350F-6B18-E8D8-B127-9D5278588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4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52069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53891-8217-0295-74D0-3BE2046F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7A4C3-947D-A42E-BDF4-EC8DF4979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6F8B4-9050-7531-4B9C-2401628D2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BD95E-BD5F-4100-2F4F-DF58AA02E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5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684132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A6B5-C437-EEE7-A3BA-E6596961D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5121E-17E5-368E-D8D4-B9E273EDC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B1922-0123-7067-C77B-90A9D5CF7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683A3-5578-13F3-2CA5-972C6258F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6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181614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7EC60-BC54-BF0F-E83A-F9969F61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E5413-B213-F57A-E804-DEA1A6DB4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0E99E-6DB4-E236-6537-F2CE62BA6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E8CBC-9275-5712-3B83-E305C3F16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7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92894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EBE4B-C776-4ECC-DA0E-0F3AEE7EE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A650E-AE17-0244-B2B9-19F4A06B7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7BA42-63E0-3EC4-A95C-B8F6D7E3A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1D1EC-92F3-A296-E010-F31D1B9E7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8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894114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F1BD7-F400-D9A9-E0B9-3F52020C2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14F1B-C4D5-9277-9DBF-9EC3276CD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FAF91-16E0-FA18-947A-84523A012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6067B-02EA-BF8F-9A56-0D79AD88D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9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693204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B440F-08FA-7C1A-4D8F-B34BBA79A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4AD607-0F8B-5C4F-8F6F-0A34D5BC4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FF480-3B3A-0265-5F49-45A2C482A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88ADD-E09D-10A2-E0C4-7A14A476A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10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911514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C0813-B1A5-A2E1-A5CA-4AE2A66B1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3D27F-4BBD-379A-79ED-DEF96F311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3DBFE-6875-981F-0A9B-0796E5B52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51D95-7454-B3E9-6A88-CB979391D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11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778330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37546-16C0-6048-CD09-F4BD1C07A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4D399-210A-F6DA-50A7-8375B50E3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CD0364-534B-E59B-D26A-468538655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D9B71-BDF1-FE57-D77E-3D440D2B2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12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120298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2D520-2CFE-45F7-A9A3-DEA0993B5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9AD1A-F879-0F5A-4A1D-9BE4963EA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954D3-9522-3807-43E0-94146B7DE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92C84-B350-59F1-97CF-E34FEB979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13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9267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AA53C-41A0-C9C7-7310-440AB8AE2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A11CB-5D43-877B-C5CA-1593E0DF3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C5F0A-2C2A-50F9-766B-78717FB14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BE9B7-776D-ACB6-6565-ECDEF25A2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E5745-CA87-0042-A4F0-20CD165D814A}" type="slidenum">
              <a:rPr lang="en-TR" smtClean="0"/>
              <a:t>14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602585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52C78-1073-9D7B-8F45-6318C7CBF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24C9B-CB73-B228-3782-C72E5C93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9E94D-6133-ADC3-CAEF-B5D14F31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FCF94-A62A-5BF9-A4C8-8F125A8C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5385E-46B6-DDCB-20C7-5529475E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738518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B7081-4686-0330-01EB-1CB029BD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F28D7-170E-098A-C0EB-93D59F86B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D0EF1-F07E-ACE2-3AC5-FB6DC925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EF348-7C58-D856-8395-7187FEFC3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90425-4A87-F05A-E7AE-38EDAD20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61339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A56B-7349-CED5-D1EF-64A3454B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EDC02-01F7-C04F-17FF-8F95377BB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1B955-5DC4-C65F-95EA-6B23205C0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D8628-0019-E574-51C9-BC5993E6C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C2A9A-71B0-DDEB-2F0C-CE82CD299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75862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DA05-A79E-AB57-E2B2-0F9A91931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65D77-B522-A722-755A-590553456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8B6DA-0B8F-EC5A-31AE-EEC15A6D8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AAAD3-4799-3B1E-CE44-2BC5671E8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65789-11AF-7F88-0298-2411E90B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BB41B-7554-076F-79C1-DC38564E7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6984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4B825-C1BD-FC08-A577-F235EFBC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6197C-BB55-ED06-26D1-9BC23DA08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59C62-0FFB-3339-F338-1444FC55C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01D86-E9B9-96A1-A83B-3FA5E7D96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96483B-7F42-9FEA-3B66-C0F0DFA0F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333D7A-943E-4020-C257-F8F85EDE9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53BA2C-0C3E-D373-BB98-CBB93596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0D1C9-9C80-93FE-7685-42BE26857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11015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F354-0830-6737-FBBF-575F4E856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EE27E-7A18-F994-64E7-9E595E14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BA4EB-DCEE-D97E-E5E7-2FB0612A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1631F-C4F3-2052-07AA-D6DE4487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415975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A2FBDF-6B1B-C396-AEA6-4DD2AC672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C9683-43CF-39E3-B917-2F2DF57AD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ED66D-6E2E-1884-E8F0-41B7378D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813425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A696-A1EC-5CEB-6106-FDC28983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F7473-D1A9-A379-CAD6-9ED4BE98A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C50A1-E264-8C15-B460-C1873AE9B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1669A-EFDE-BD2B-2F93-37A289920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324F8-EF0F-F80F-C3A6-137536435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490A7-8105-7D1F-0293-0A952D15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49633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626EA-2DE6-D824-95BC-CF01A0206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A2BF8F-5971-00AF-D654-8D5731E34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E0CEE-20A2-F485-603F-19F300B5D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8E1D4-7A15-24B2-73DF-5719511A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93FA8-B997-3BE1-8F86-EC6DF7AE9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78FDD-37A2-E81F-69ED-B50F50C9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0596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8CB97-8591-331A-D30A-E3733DBC1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E82E1-8CF1-FB57-0900-1E51B232D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AC3D3-5A54-04E1-5C23-3CDA0EFE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44E-F910-F343-32AC-3E5634A54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C7CE9-B499-5FB6-239A-613B26043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32013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90F9E0-E5AA-C8AC-FC7D-B3CD54967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5DB33-0ED8-30C6-1B96-3AE322A2E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151E6-7EE3-FE80-654B-259F0214F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0FDC1-628A-4E45-DDE4-C2774F6B4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18211-4E55-87CF-A035-200F48A6B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94859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68E4BE-A479-B2EF-3CFB-45C3BE9B9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A2335-A89D-DF5D-521A-B14655774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ED811-BB6B-F5C4-B2A8-F7D59E2D27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CD425F-86B7-E045-9220-C20EFBCC9A14}" type="datetimeFigureOut">
              <a:rPr lang="en-TR" smtClean="0"/>
              <a:t>01/11/2026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0C5BC-CA8D-4F1D-E398-842511BD38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BA40B-0552-99C6-6E6F-0BE0B6E83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79259B-EE15-B24D-A8FB-1DD6B51A111A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55447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C192A-16F7-5B0E-8F3E-E30A85E42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226" y="1280679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Large Language Models Will Disrupt Data Management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0269A80-D65B-76EE-246C-4F5ED8D13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226" y="2890979"/>
            <a:ext cx="9833548" cy="33045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Vision Paper &amp; Critical Discussion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Fernandez et al., PVLDB 2023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Aslı ÖZKAN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CENG544- Large Scale Data Management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2025-2026 Fall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0779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BF6C8-AFFB-E68B-5232-2BB3461F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4BC3564-B09F-AFF7-5615-E5A6E3CDC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26471A-E104-D944-B1A6-92017A88F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146A5-A4C5-085B-1B76-8398E4A6E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418589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DA2C276-CCD3-CAED-38DE-790EFDC2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5F300CD7-E21D-90C4-D66B-225358689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F257EB23-FD0D-6F04-237C-EFF631A77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15587842-BB06-B261-4A43-C50E88BDA2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3E9BEEE3-51E9-AB3A-2F05-36BDCAA92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4D181-4F6B-6094-FF14-D8A62C1B4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1224144"/>
            <a:ext cx="9833548" cy="4898360"/>
          </a:xfrm>
        </p:spPr>
        <p:txBody>
          <a:bodyPr>
            <a:noAutofit/>
          </a:bodyPr>
          <a:lstStyle/>
          <a:p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</a:p>
          <a:p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Paradigm Shift</a:t>
            </a:r>
          </a:p>
          <a:p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LLMs Databases?</a:t>
            </a:r>
          </a:p>
          <a:p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Problems</a:t>
            </a:r>
          </a:p>
          <a:p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Democratization</a:t>
            </a:r>
          </a:p>
          <a:p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Vision</a:t>
            </a:r>
          </a:p>
          <a:p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Horizons</a:t>
            </a:r>
          </a:p>
          <a:p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</a:t>
            </a:r>
          </a:p>
          <a:p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Reconsideration Axes</a:t>
            </a:r>
          </a:p>
          <a:p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vs Worst Case </a:t>
            </a:r>
          </a:p>
          <a:p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143C4FF-613B-A4AC-7D64-4B5DD1FF8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46BB852-D678-0105-C5FB-ED81D3791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82627D-EB09-C03B-AF0D-AC38BAB1F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BA0099-FF45-8593-1C6C-DBE9BD924E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2A70645-0E77-8751-160E-ECCC3978AF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3967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C290A-9727-4662-A41E-39F695843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87AFC64-A5A1-F433-DB39-5781B495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2F4EFB-6846-9E9D-12C6-C551B6042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43AB2B-6255-68E0-8344-9F92E3B0A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30138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Motivation- Why This Matters Now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40A7A2E-68D1-CF11-43DD-48725CE17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75EA85B3-B3DB-2389-19A2-46FBB74E2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DFB133FA-4B65-102F-B295-A08B5A6CF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F220E040-1523-3DB2-88F4-CE2FA0BED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53F77ACB-0F35-D289-3003-65F0CF76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05B6-4FCC-BA43-158B-D31F87273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2651375"/>
            <a:ext cx="9833548" cy="3938227"/>
          </a:xfrm>
        </p:spPr>
        <p:txBody>
          <a:bodyPr>
            <a:normAutofit/>
          </a:bodyPr>
          <a:lstStyle/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increasingly overlap with DBMS responsibilities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automation reaches semantic limits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unlock higher-level abstraction for data access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Raises technical + socio-technical questions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6D3DAE-78AD-6BD3-140E-B4766BC04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EF4E2F9-DE2C-1845-C6E4-E1C4F8754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7F069FF-7E02-685E-FA42-70BA57743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6F5EC9-0E53-0F86-63FF-C7EC26DBF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D9129F-C3C9-0E7D-F9CA-AA7C5C0AC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845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AE9A8-2B0E-405B-0D4C-02F1BE36D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2F1B443-7B24-F029-AC18-24F171502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6E7AA0-60A7-9EF9-28E1-5ED07CC75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AD535-681D-879B-F43E-2D563F9BC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072726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4F3CB2-82C7-1666-6B41-855CE03A0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B27D6DB5-552C-8BC9-3381-85A9CFB630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91AA3B40-9F36-174D-A76D-D9501923B5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B8DF4976-F819-8084-371B-1C3E13751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C5F576E9-AD58-1D5B-ABFC-FF5F75B08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64B8C-D141-742A-29B9-46A2B1A31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2323318"/>
            <a:ext cx="9833548" cy="3938227"/>
          </a:xfrm>
        </p:spPr>
        <p:txBody>
          <a:bodyPr>
            <a:normAutofit/>
          </a:bodyPr>
          <a:lstStyle/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Question: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LLMs fundamentally change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responsibilities of data management systems?</a:t>
            </a:r>
          </a:p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Sub-questions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Replacement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vsç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Complementation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Shifts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Co-designed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</a:t>
            </a:r>
            <a:endParaRPr lang="en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8F89B9-CACD-6B9A-7FF7-371220C1F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838DDDC-B8AA-19A8-67D7-19BAC8613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E150426-E875-92AB-9E77-1E628E47B5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3579545-2304-4152-4670-9087B27A1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D72205-CC1C-3A2E-3C31-1110DFCE8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6288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BB77C-E762-7509-F8C9-01D8DFF7E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866139E-8035-02BA-933D-82AF2A02D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ED5F16-27E7-05AD-A7F3-0696D65EE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E3039-EF85-7CD5-F3C2-F74B46BB8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072726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Paradigm Shift: From Symbolic to Semantic Systems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21E69F-032D-F393-DD12-82BD1517D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7C0CAB6C-82DA-5CFA-978C-4F666AE733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8A9D9A2F-AB55-CEFE-062E-DE1FC82CA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C8685E63-4EDB-279D-A03F-1DF1ED36BE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472FC7B7-2731-1047-2F58-D93DB96A0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3C331F-D582-A545-841D-6870F091AA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6282905"/>
              </p:ext>
            </p:extLst>
          </p:nvPr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6253129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43788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Pre-LLM 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 LLMs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149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Symbolic, rule-based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Latent semantic representations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95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Explicit schemas &amp; structured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Implicit structure learned from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561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query formulation (SQL)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 language prompts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834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Narrow, task-specific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 models for diverse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369874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EF49A0FE-1A49-11B1-A23C-DAFDCC39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CBF10D9-5E01-2732-DD1C-01B5B134B6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3F1D514-3DED-96D6-F3E8-A1912F485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C19C07A-1AF2-B4E4-1212-F06FB651F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DE0A2-7C4D-F7B9-614D-3138EE369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1D70AFA-EE6D-3643-D61A-1FB923CA6EB8}"/>
              </a:ext>
            </a:extLst>
          </p:cNvPr>
          <p:cNvSpPr txBox="1"/>
          <p:nvPr/>
        </p:nvSpPr>
        <p:spPr>
          <a:xfrm>
            <a:off x="838200" y="4263043"/>
            <a:ext cx="101747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Implications: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Serving as a semantic bridge between NL, code, and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Raising questions about system boundaries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reconsideration</a:t>
            </a:r>
            <a:r>
              <a:rPr lang="en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interface</a:t>
            </a:r>
            <a:r>
              <a:rPr lang="en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responsibility design</a:t>
            </a:r>
          </a:p>
        </p:txBody>
      </p:sp>
    </p:spTree>
    <p:extLst>
      <p:ext uri="{BB962C8B-B14F-4D97-AF65-F5344CB8AC3E}">
        <p14:creationId xmlns:p14="http://schemas.microsoft.com/office/powerpoint/2010/main" val="1886666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E1F7C-4EBA-B435-EAE2-4483CD8A6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3A7FF50-64AB-1D2E-EA3F-C4FDC1FBE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6BC9AC-EA5A-E1AE-1D97-B7A1D2FA9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84141-623C-5BC2-7E17-09077E3D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072726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LLMs Databases?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51D6F5-B708-1FBD-AB9C-3192DCC22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4658A5FE-ECD3-EFD8-D227-07D06A0429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FD01AE9C-89EC-19BA-71DE-5DFC8F9D15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55446484-6D12-D0E8-99B7-8B291F5889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AA2CD963-292D-04A1-0F68-B11AD8155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4F78B-FB57-ACDD-E6CA-52CE67DC9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2323318"/>
            <a:ext cx="9833548" cy="3938227"/>
          </a:xfrm>
        </p:spPr>
        <p:txBody>
          <a:bodyPr>
            <a:normAutofit/>
          </a:bodyPr>
          <a:lstStyle/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– but they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boundaries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facets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synthesis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enrichment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Symbolic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  <a:p>
            <a:pPr lvl="1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semantics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Traceable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provenance</a:t>
            </a:r>
            <a:endParaRPr lang="en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A19F4E6-9A23-500E-CA53-0BBA9A23A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CDB8F5-02D4-F774-A76B-2B0925046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AA9C14-E390-F30E-2A9E-AE2033287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390BE36-7EDA-A8E6-4189-2E84BFEE0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0115B38-48A5-2EBE-AD82-C24499CE8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9172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59808B-EA34-D82C-3F90-5322EC30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09CE387-E96D-E71B-A45D-D2EBC132D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8B4EB8-3D0B-638C-B267-285280ADB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E8E5F-64D4-6B30-97C7-9A7766B05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072726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Problems Become Easier with LLMs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AD94539-13E7-C5CE-F522-52AF82F05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F3A488CD-C692-75E0-46BB-05191C060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C5CA4AC7-140D-8627-2D52-044E57898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971BF651-AE1A-FB20-9441-9C6CF45D69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EC29D756-C704-4FD3-036F-C397414356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DB9919-7396-7F9B-F444-B245CA4E70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9629596"/>
              </p:ext>
            </p:extLst>
          </p:nvPr>
        </p:nvGraphicFramePr>
        <p:xfrm>
          <a:off x="838200" y="1825625"/>
          <a:ext cx="10515597" cy="468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55546007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7186317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748184804"/>
                    </a:ext>
                  </a:extLst>
                </a:gridCol>
              </a:tblGrid>
              <a:tr h="662892"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It Was Hard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LLMs 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852985"/>
                  </a:ext>
                </a:extLst>
              </a:tr>
              <a:tr h="662892"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Schema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ambiguity &amp; naming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inference via NL + world knowledge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880663"/>
                  </a:ext>
                </a:extLst>
              </a:tr>
              <a:tr h="662892"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grounding to real-world identities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similarity + pretrained knowledge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573813"/>
                  </a:ext>
                </a:extLst>
              </a:tr>
              <a:tr h="662892"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Wrangling / ETL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 tail of expectations &amp; corner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 synthesis + example-driven generalization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710873"/>
                  </a:ext>
                </a:extLst>
              </a:tr>
              <a:tr h="662892"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 -&gt; SQL Translation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schema knowledge + 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 language interfaces &amp; query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027008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D0B67C22-F994-0F51-380E-4A297A0ED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BE0AC14-7283-3182-8873-DCB764924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D102CA6-C4BF-7D7C-815F-384BEDFF28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BFEFF3B-870C-5E86-7C86-90C457F78A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91A1297-7B31-122B-9A3C-48CE013C9A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4992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23E7C-51B0-5A35-3AA1-4E5C5C9E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32E9BA9-6AEA-1926-4473-5FE3EB736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480894-FF34-EE86-127F-6609FC8DD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380049-3596-4A10-0563-3197E47BD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072726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Democratizing Data Access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5DAF6B6-5A40-F51E-16D9-E3D0BA0B3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527653E6-9829-D9E7-9F04-82899E65D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0A537E77-7E33-5297-A7E2-A839EC537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BD9BED0F-C4B8-59D7-BE12-0407B7482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DA15B9FE-EFE8-5AD8-944E-372731273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11314-BF7D-0F0B-27EC-839C0A7D6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2323318"/>
            <a:ext cx="9833548" cy="3938227"/>
          </a:xfrm>
        </p:spPr>
        <p:txBody>
          <a:bodyPr>
            <a:norm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LLMs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interaction</a:t>
            </a:r>
            <a:endParaRPr lang="en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replaces specialized query languages</a:t>
            </a:r>
          </a:p>
          <a:p>
            <a:pPr lvl="1"/>
            <a:r>
              <a:rPr lang="en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skill</a:t>
            </a:r>
            <a:r>
              <a:rPr lang="en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barrier for non-technical users</a:t>
            </a:r>
          </a:p>
          <a:p>
            <a:pPr lvl="1"/>
            <a:r>
              <a:rPr lang="en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conversational exploration of data</a:t>
            </a:r>
          </a:p>
          <a:p>
            <a:pPr lvl="1"/>
            <a:r>
              <a:rPr lang="en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querying iterative and explainable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B4F67B-C262-B336-2C8D-611C23988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272115-A734-2EDA-82FC-5E392DC03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989BCCF-5577-EAD5-22AB-28B705B79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80F3514-D85D-C96C-C5CE-10A845420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C51E8CB-D8F1-1293-67EC-94CA53AF4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9479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0BC8B-89E6-AB9E-7D5F-9352A67C5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95CB32-BB60-CC83-174C-9B3C103BC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E64493-3614-D380-68FF-D21342A82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71E3E-7B9D-E95D-5EBB-004F0D25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072726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Discovery &amp; Enterprise LLMs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F6F0FB2-28FF-DA38-E2CE-9DDD2224D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B6F1FFBE-3046-2635-F433-0962FEB3C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A498D3B0-72BC-D15C-F528-758BCB9D8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8C018791-8F29-B399-A164-735A32F317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8C547BCD-B4F9-2597-42B7-3DB63EC99E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0184C-F88F-1DD1-0417-105360FD8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2323318"/>
            <a:ext cx="9833548" cy="3938227"/>
          </a:xfrm>
        </p:spPr>
        <p:txBody>
          <a:bodyPr>
            <a:normAutofit/>
          </a:bodyPr>
          <a:lstStyle/>
          <a:p>
            <a:r>
              <a:rPr lang="en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Vision: Enterprise-Scale LLMs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access to organizational knowledge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across heterogeneous data sources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indexing of structured + unstructured data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training &amp; inference cost at scale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privacy, compliance, access control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Keeping models updated with evolving schema &amp; data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responsibility : DBMS vs LLM Layer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42910C1-78D5-BCD2-F461-952E61762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32C186D-3525-E6A8-6415-9969ED664B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B94ED2-416B-0718-D9A8-F00FC6814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F6E7F94-28FD-425B-29CD-4815B01FF6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0D41B-14D8-71FE-6172-4DC10D9EEF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9856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86D909-81ED-2824-C32C-171FB8F5B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C751AA9-8606-8873-F1F4-944203DB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87894E-3067-31BA-C7ED-5A6195F79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960E5-2D65-81AC-AB70-5472C0B40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821366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Horizons &amp; Opportunities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9B59C5F-A50F-1933-DE9D-7F53BA2A3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CB23B44C-06E6-73DF-22AC-8FAC7820F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D61874FC-9F35-C7E9-0A08-A44BADBF8E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94543118-76A5-23D1-76FD-93B9AD8A5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86DC6A20-3BED-6ACE-43FB-DB480FC10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87422-8919-FB6D-C4B1-A29BA98A7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1878280"/>
            <a:ext cx="9833548" cy="4949841"/>
          </a:xfrm>
        </p:spPr>
        <p:txBody>
          <a:bodyPr>
            <a:normAutofit lnSpcReduction="10000"/>
          </a:bodyPr>
          <a:lstStyle/>
          <a:p>
            <a:r>
              <a:rPr lang="en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Sharing Consortia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model training for domain-specific tasks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organizations gain access to collective intelligence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legal &amp; technical frameworks for shared ownership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Provenance &amp; Attribution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gets credit for training contributions?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Traceability of data influence on model outputs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semantic generation to legal &amp; ethical responsibility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Markets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as an economic asset, not just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</a:t>
            </a:r>
            <a:endParaRPr lang="en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Marketplaces for curated training datasets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 questions about pricing,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licensing,</a:t>
            </a:r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access</a:t>
            </a:r>
          </a:p>
          <a:p>
            <a:pPr lvl="1"/>
            <a:endParaRPr lang="en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DAABEC-DF42-362C-8CC4-DD7C9191F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FD767AC-1071-27B5-57A2-A94756786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63E1FC7-D819-73DA-D4D3-9A9007FCE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70B5201-05F9-FF1F-9238-FA1D8B317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61300CD-9A71-BD10-1BFF-9D39C9FC65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08494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30455-122A-9317-7A81-37E70BE6A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2501041-6B95-3A7B-C53A-D2F9519B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EDD073-7C5D-12DE-9DAF-EEB62C797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3C119-6656-DA29-0DC8-54B98D9C1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765069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 &amp; Failure Scenarios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EAFDA6C-2F2F-B4DA-A13E-A23D0D5A4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C06417BE-C19A-97EB-55B8-9EEE7BFA1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CB1D164F-19B1-75C4-1B23-FEFC36B72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A938F5F4-64FB-E0C0-879B-E8422516A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7652C875-49CC-DCD7-1718-D31F83CEF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C93BC-E3C1-8ABE-C7BF-04F0487EB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1878280"/>
            <a:ext cx="9833548" cy="4949841"/>
          </a:xfrm>
        </p:spPr>
        <p:txBody>
          <a:bodyPr>
            <a:normAutofit/>
          </a:bodyPr>
          <a:lstStyle/>
          <a:p>
            <a:r>
              <a:rPr lang="en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Challenges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Hallucinations – confident but incorrect answers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determinism – non-repeatable results for identical queries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shift – models misaligned with evolving data structures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access control gaps – semantic inference may bypass permission boundaries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&amp;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unpredictability – scaling inference in production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Scenarios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Wrong SQL generated – incorrect business decisions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Misinterpreted schema – critical compliance violations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info inferred indirectly – privacy breach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output used without validation – data corruption in pipelines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A827E0-3300-1EFD-5AC9-E4EE22352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8014DF2-5288-8428-E079-581A48580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3FBF8F-20A4-5113-32EF-8413FD98B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7BA781C-0870-46C4-D4A8-26ED4389A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66BFDD0-A82F-1295-FD95-6CD5B5E2A8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4224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BF56E2-5319-BFC4-0435-9B79C5A2B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6850B51-BF40-CF3F-00FF-999FCAEA9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665D1C-4CD0-F582-474D-A0309CD0C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6543E-612C-EB2B-0FC1-6130AFF16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285003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Axes of Reconsideration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4F870A0-B4DA-3AC4-8354-BBB3A990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61A88E96-9D00-8735-97BC-F40310D2C8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1E7B062D-E2BD-769F-8805-03F07C31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A74E7EA0-CD99-FC27-10C1-0F7719E6C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DAF2FBCB-A9BB-7B17-F763-3B6BB94FA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FB821-9A47-CA7C-0599-D2F6E48F0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1072726"/>
            <a:ext cx="9833548" cy="5755396"/>
          </a:xfrm>
        </p:spPr>
        <p:txBody>
          <a:bodyPr>
            <a:normAutofit fontScale="92500" lnSpcReduction="10000"/>
          </a:bodyPr>
          <a:lstStyle/>
          <a:p>
            <a:r>
              <a:rPr lang="tr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lvl="1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toward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–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DBMS –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guarantee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Co-design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instead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endParaRPr lang="en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in which system handles which tasks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&amp; accountability become shared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 in-the-loop remains essantial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 as an access point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Iterative, conversational querying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&amp; explainability requirements</a:t>
            </a:r>
          </a:p>
          <a:p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becomes an economic asset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Incentives for sharing, attribution, marketplaces</a:t>
            </a:r>
          </a:p>
          <a:p>
            <a:pPr lvl="1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&amp; scalability reshape design choices</a:t>
            </a:r>
          </a:p>
          <a:p>
            <a:pPr lvl="1"/>
            <a:endParaRPr lang="en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46C2386-E2A0-944B-3C32-60A0F4A60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B8A6728-1B7C-D7F3-FD06-CF159E4253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C9005F-5093-5E8D-EBF8-0E91C7EE0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B53A61D-DA47-E2EA-3720-3A709B046E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A06A7F0-D457-CB16-625C-677DAA572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0291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87229-2B51-43F6-4EC9-9A0823ED0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18B2374-BF06-DD2D-4DE4-0A48BF1A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8C7E9C-FF1B-AFB8-5CA9-8D58856C5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2EE8F9-F719-CE23-2330-9BF537040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285003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vs Worst Case Scenarios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E3E9D47-FF8B-1EA4-4160-2FEFCFBA4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B26CB4A0-D27F-778D-0FB0-E3D0BE068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FB095E69-E3AF-B9B5-1F24-5400D9D7E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EC74F99D-777D-D899-8470-038BC1D60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3F0FC390-E75C-834D-6638-D7F7CAB82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2AA3A-CD60-471E-1B41-424B3E122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1020872"/>
            <a:ext cx="9833548" cy="5755396"/>
          </a:xfrm>
        </p:spPr>
        <p:txBody>
          <a:bodyPr>
            <a:normAutofit/>
          </a:bodyPr>
          <a:lstStyle/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Best-case</a:t>
            </a:r>
            <a:r>
              <a:rPr lang="en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Scenario</a:t>
            </a:r>
          </a:p>
          <a:p>
            <a:pPr lvl="2"/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architecture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succeeds</a:t>
            </a:r>
            <a:endParaRPr lang="en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+ provenance ensure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accessibility boosts innovation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act as co-pilots, not replacements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oversight + automated assistance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More capable &amp; inclusive data systems</a:t>
            </a:r>
          </a:p>
          <a:p>
            <a:pPr lvl="1"/>
            <a:r>
              <a:rPr lang="en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Worst-case Scenario</a:t>
            </a:r>
          </a:p>
          <a:p>
            <a:pPr lvl="2"/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Overreliance on hallucination-prone models</a:t>
            </a:r>
          </a:p>
          <a:p>
            <a:pPr lvl="2"/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data lineage &amp; accountability gaps</a:t>
            </a:r>
          </a:p>
          <a:p>
            <a:pPr lvl="2"/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Broken compliance &amp; privacy boundaries</a:t>
            </a:r>
          </a:p>
          <a:p>
            <a:pPr lvl="2"/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disruption without support</a:t>
            </a:r>
          </a:p>
          <a:p>
            <a:pPr lvl="2"/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chaos – brittle production systems</a:t>
            </a:r>
          </a:p>
          <a:p>
            <a:pPr lvl="2"/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Less reliable, fragmented systems</a:t>
            </a:r>
          </a:p>
          <a:p>
            <a:pPr lvl="2"/>
            <a:endParaRPr lang="en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DD2398-DCD5-CE15-3A68-DB326FE13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A1D075F-9974-0497-5D3B-62C37DFCE3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1A3D8E9-832F-368B-CE79-84B9D8FA7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39B22C9-4343-6645-2FB3-596298E5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7A6D77D-8A3E-E3E8-3688-EB0982D1C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9333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EFC0C-A985-8B1F-A7F0-6F40F886D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CD9E189-6E2B-DA57-C556-7F4E4512E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DBD047-5DE2-CF11-42B2-A0C7AAC04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0343B-19F6-7473-8188-FE86D0F19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285003"/>
            <a:ext cx="9833548" cy="654137"/>
          </a:xfrm>
        </p:spPr>
        <p:txBody>
          <a:bodyPr anchor="b">
            <a:noAutofit/>
          </a:bodyPr>
          <a:lstStyle/>
          <a:p>
            <a:pPr algn="ctr"/>
            <a:r>
              <a:rPr lang="en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T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17B7A1C-27A9-80E5-4FFD-F4F3BBED4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1A3D08BF-9842-4C72-F186-36E356A83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6F3AF016-D456-B930-B177-8EEB2BB9E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ED476521-4912-BFD6-0303-6B209A331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9804DE15-0632-5D0A-E5DE-8A4E249A1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A54F8-5250-8BFF-9581-4CA7EC367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1387606"/>
            <a:ext cx="9833548" cy="4385622"/>
          </a:xfrm>
        </p:spPr>
        <p:txBody>
          <a:bodyPr>
            <a:normAutofit/>
          </a:bodyPr>
          <a:lstStyle/>
          <a:p>
            <a:pPr lvl="2"/>
            <a:endParaRPr lang="en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are not databases, but they shift boundaries in data management.</a:t>
            </a:r>
          </a:p>
          <a:p>
            <a:pPr lvl="2"/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lower the automation ceiling for historically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tasks.</a:t>
            </a:r>
          </a:p>
          <a:p>
            <a:pPr lvl="2"/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democratize data access through NL interfaces.</a:t>
            </a:r>
          </a:p>
          <a:p>
            <a:pPr lvl="2"/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depends on hybrid systems by combining:</a:t>
            </a:r>
          </a:p>
          <a:p>
            <a:pPr lvl="3"/>
            <a:r>
              <a:rPr lang="en-T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Semantic Power + DBMS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guarantees</a:t>
            </a:r>
            <a:endParaRPr lang="en-T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future impact hinges 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governance,</a:t>
            </a:r>
            <a:r>
              <a:rPr lang="en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responsibility, and co-design</a:t>
            </a:r>
          </a:p>
          <a:p>
            <a:pPr lvl="2"/>
            <a:endParaRPr lang="en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D19B8F1-D8BD-19CC-ED53-478D2D9BA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8DBC322-3966-2BC2-8FAF-0D9845531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1E089B5-286E-63A0-5AA6-E97C3E4D09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5D47E8A-EBDB-4A1D-30DE-5D130B54B6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2BCC9D4-7A4D-E0D7-9E00-5430236DA3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0960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FDD3A7FD16CAC24AB14869E051BC66D7" ma:contentTypeVersion="3" ma:contentTypeDescription="Yeni belge oluşturun." ma:contentTypeScope="" ma:versionID="ed33ab56d05d4709465b58c5cb6c9623">
  <xsd:schema xmlns:xsd="http://www.w3.org/2001/XMLSchema" xmlns:xs="http://www.w3.org/2001/XMLSchema" xmlns:p="http://schemas.microsoft.com/office/2006/metadata/properties" xmlns:ns2="6bfd5f63-3232-42a0-8db4-2484f8efdeaa" targetNamespace="http://schemas.microsoft.com/office/2006/metadata/properties" ma:root="true" ma:fieldsID="6241f700414df0124bf534e6073065f8" ns2:_="">
    <xsd:import namespace="6bfd5f63-3232-42a0-8db4-2484f8efde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d5f63-3232-42a0-8db4-2484f8efde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49BC5A-1831-4828-B8F4-95D178F7B6DC}"/>
</file>

<file path=customXml/itemProps2.xml><?xml version="1.0" encoding="utf-8"?>
<ds:datastoreItem xmlns:ds="http://schemas.openxmlformats.org/officeDocument/2006/customXml" ds:itemID="{A93A1364-84B4-49E8-BD0B-EEF24922750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FD2AD0A-6FCE-4EBB-93ED-0301EE1F7D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2457</TotalTime>
  <Words>758</Words>
  <Application>Microsoft Office PowerPoint</Application>
  <PresentationFormat>Geniş ekran</PresentationFormat>
  <Paragraphs>169</Paragraphs>
  <Slides>14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5" baseType="lpstr">
      <vt:lpstr>Office Theme</vt:lpstr>
      <vt:lpstr>How Large Language Models Will Disrupt Data Management</vt:lpstr>
      <vt:lpstr>Outline</vt:lpstr>
      <vt:lpstr>Motivation- Why This Matters Now</vt:lpstr>
      <vt:lpstr>Research Question</vt:lpstr>
      <vt:lpstr>A Paradigm Shift: From Symbolic to Semantic Systems</vt:lpstr>
      <vt:lpstr>Are LLMs Databases?</vt:lpstr>
      <vt:lpstr>Hard Problems Become Easier with LLMs</vt:lpstr>
      <vt:lpstr>Democratizing Data Access</vt:lpstr>
      <vt:lpstr>Data Discovery &amp; Enterprise LLMs</vt:lpstr>
      <vt:lpstr>New Horizons &amp; Opportunities</vt:lpstr>
      <vt:lpstr>Risks &amp; Failure Scenarios</vt:lpstr>
      <vt:lpstr>Four Axes of Reconsideration</vt:lpstr>
      <vt:lpstr>Best vs Worst Case Scenarios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Aslı Özkan</dc:creator>
  <cp:lastModifiedBy>Aslı Özkan</cp:lastModifiedBy>
  <cp:revision>13</cp:revision>
  <dcterms:created xsi:type="dcterms:W3CDTF">2025-12-16T13:28:43Z</dcterms:created>
  <dcterms:modified xsi:type="dcterms:W3CDTF">2026-01-11T11:39:46Z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0x010100FDD3A7FD16CAC24AB14869E051BC66D7</vt:lpwstr>
  </property>
</Properties>
</file>